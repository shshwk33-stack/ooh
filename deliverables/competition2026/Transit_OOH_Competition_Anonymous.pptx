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연구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공개자료로 만드는 선택의 근거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익명 심사용 발표자료 · 공개 교통·상권자료 기반 연구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01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508760"/>
            <a:ext cx="6858000" cy="4526280"/>
          </a:xfrm>
          <a:prstGeom prst="roundRect">
            <a:avLst>
              <a:gd name="adj" fmla="val 8000"/>
            </a:avLst>
          </a:prstGeom>
          <a:solidFill>
            <a:srgbClr val="142D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20240"/>
            <a:ext cx="6217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  <a:ea typeface="Noto Sans CJK KR"/>
              </a:rPr>
              <a:t>선정 기준이 달라져도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  <a:ea typeface="Noto Sans CJK KR"/>
              </a:rPr>
              <a:t>견고한 후보지역 찾기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6035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D1E8EF"/>
                </a:solidFill>
                <a:latin typeface="Noto Sans CJK KR"/>
                <a:ea typeface="Noto Sans CJK KR"/>
              </a:rPr>
              <a:t>이동형 광고 운영을 위한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D1E8EF"/>
                </a:solidFill>
                <a:latin typeface="Noto Sans CJK KR"/>
                <a:ea typeface="Noto Sans CJK KR"/>
              </a:rPr>
              <a:t>교통·상권 데이터 기반 의사결정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5943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4D7DE"/>
                </a:solidFill>
                <a:latin typeface="Noto Sans CJK KR"/>
                <a:ea typeface="Noto Sans CJK KR"/>
              </a:rPr>
              <a:t>마포구 사례  ·  가중치 민감도  ·  최악후회 최소화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7373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87F8C"/>
                </a:solidFill>
                <a:latin typeface="Noto Sans CJK KR"/>
                <a:ea typeface="Noto Sans CJK KR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066543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42D49"/>
                </a:solidFill>
                <a:latin typeface="Noto Sans CJK KR"/>
                <a:ea typeface="Noto Sans CJK KR"/>
              </a:rPr>
              <a:t>실제 공개자료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56946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17386"/>
                </a:solidFill>
                <a:latin typeface="Noto Sans CJK KR"/>
                <a:ea typeface="Noto Sans CJK KR"/>
              </a:rPr>
              <a:t>2024년 교통·점포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08152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87F8C"/>
                </a:solidFill>
                <a:latin typeface="Noto Sans CJK KR"/>
                <a:ea typeface="Noto Sans CJK KR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410712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42D49"/>
                </a:solidFill>
                <a:latin typeface="Noto Sans CJK KR"/>
                <a:ea typeface="Noto Sans CJK KR"/>
              </a:rPr>
              <a:t>후보 집합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913632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17386"/>
                </a:solidFill>
                <a:latin typeface="Noto Sans CJK KR"/>
                <a:ea typeface="Noto Sans CJK KR"/>
              </a:rPr>
              <a:t>선호·자료 표현의 변화 고려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425696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087F8C"/>
                </a:solidFill>
                <a:latin typeface="Noto Sans CJK KR"/>
                <a:ea typeface="Noto Sans CJK KR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75488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142D49"/>
                </a:solidFill>
                <a:latin typeface="Noto Sans CJK KR"/>
                <a:ea typeface="Noto Sans CJK KR"/>
              </a:rPr>
              <a:t>결과와 한계 공개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257800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617386"/>
                </a:solidFill>
                <a:latin typeface="Noto Sans CJK KR"/>
                <a:ea typeface="Noto Sans CJK KR"/>
              </a:rPr>
              <a:t>비교·동점·외부 맥락 검사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좋은 지역은 하나의 점수만으로 정해지는가?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이동형 광고의 검토 지역을 정할 때 교통과 상권을 중요하게 보는 비중이 달라질 수 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02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783080"/>
            <a:ext cx="345643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783080"/>
            <a:ext cx="3456432" cy="59436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965960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87F8C"/>
                </a:solidFill>
                <a:latin typeface="Noto Sans CJK KR"/>
                <a:ea typeface="Noto Sans CJK KR"/>
              </a:rPr>
              <a:t>관점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386584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상권을 먼저 보면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154680"/>
            <a:ext cx="305409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점포가 모인 지역을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우선 검토한다.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차량 통행 맥락과는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다른 입지 관점이다.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7096" y="1783080"/>
            <a:ext cx="3456432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7096" y="1783080"/>
            <a:ext cx="3456432" cy="59436"/>
          </a:xfrm>
          <a:prstGeom prst="rect">
            <a:avLst/>
          </a:prstGeom>
          <a:solidFill>
            <a:srgbClr val="367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1965960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67DB0"/>
                </a:solidFill>
                <a:latin typeface="Noto Sans CJK KR"/>
                <a:ea typeface="Noto Sans CJK KR"/>
              </a:rPr>
              <a:t>관점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2386584"/>
            <a:ext cx="30540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교통을 먼저 보면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3154680"/>
            <a:ext cx="305409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차량 통행 맥락이 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지역을 우선 검토한다.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배송 정차나 실제 광고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노출을 뜻하지는 않는다.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2983" y="1783080"/>
            <a:ext cx="3749039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72983" y="1783080"/>
            <a:ext cx="3749039" cy="59436"/>
          </a:xfrm>
          <a:prstGeom prst="rect">
            <a:avLst/>
          </a:prstGeom>
          <a:solidFill>
            <a:srgbClr val="E58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1965960"/>
            <a:ext cx="3346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8A3B"/>
                </a:solidFill>
                <a:latin typeface="Noto Sans CJK KR"/>
                <a:ea typeface="Noto Sans CJK KR"/>
              </a:rPr>
              <a:t>의사결정의 문제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386584"/>
            <a:ext cx="3346703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비중을 확신하기 어렵다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3154680"/>
            <a:ext cx="3346703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>50:50과 60:40 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>무엇이 최적인지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>입증된 기준이 없다.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>선택의 민감도를 확인해야 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605272"/>
            <a:ext cx="11109960" cy="502920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678424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>
                <a:solidFill>
                  <a:srgbClr val="087F8C"/>
                </a:solidFill>
                <a:latin typeface="Noto Sans CJK KR"/>
                <a:ea typeface="Noto Sans CJK KR"/>
              </a:rPr>
              <a:t>연구 질문: 기준을 바꾸어도 선택 손실이 작은 후보지역 묶음을 찾을 수 있는가?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목적·활용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운영자가 먼저 검토할 지역을 좁히는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의사결정 단위는 행정동 후보지역이다. 실제 배송 정차지·운행 가능 경로를 확정하지 않는다.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03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47088"/>
            <a:ext cx="3566160" cy="3364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029968"/>
            <a:ext cx="429768" cy="429768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66543"/>
            <a:ext cx="429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KR"/>
                <a:ea typeface="Noto Sans CJK K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029968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D49"/>
                </a:solidFill>
                <a:latin typeface="Noto Sans CJK KR"/>
                <a:ea typeface="Noto Sans CJK KR"/>
              </a:rPr>
              <a:t>비교 범위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761488"/>
            <a:ext cx="3108960" cy="2313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마포구의 비교 가능한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15개 동을 대상으로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검토할 후보 수 K를 정한다.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847088"/>
            <a:ext cx="3566160" cy="3364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43984" y="2029968"/>
            <a:ext cx="429768" cy="429768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2066543"/>
            <a:ext cx="429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KR"/>
                <a:ea typeface="Noto Sans CJK K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029968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D49"/>
                </a:solidFill>
                <a:latin typeface="Noto Sans CJK KR"/>
                <a:ea typeface="Noto Sans CJK KR"/>
              </a:rPr>
              <a:t>선호와 위험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761488"/>
            <a:ext cx="3108960" cy="2313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교통 비중을 조절하고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가정에 따라 바뀌는 후보와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유지되는 후보를 확인한다.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847088"/>
            <a:ext cx="3566160" cy="3364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74736" y="2029968"/>
            <a:ext cx="429768" cy="429768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066543"/>
            <a:ext cx="429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Noto Sans CJK KR"/>
                <a:ea typeface="Noto Sans CJK K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9096" y="2029968"/>
            <a:ext cx="2606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D49"/>
                </a:solidFill>
                <a:latin typeface="Noto Sans CJK KR"/>
                <a:ea typeface="Noto Sans CJK KR"/>
              </a:rPr>
              <a:t>검토 후보 전달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761488"/>
            <a:ext cx="3108960" cy="2313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핵심 후보·기준별 대안·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선택 근거를 CSV와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지도·결과표로 전달한다.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605272"/>
            <a:ext cx="11109960" cy="502920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678424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>
                <a:solidFill>
                  <a:srgbClr val="087F8C"/>
                </a:solidFill>
                <a:latin typeface="Noto Sans CJK KR"/>
                <a:ea typeface="Noto Sans CJK KR"/>
              </a:rPr>
              <a:t>활용 업무: 광고 운영의 지역 사전 검토 → 세부 거점·차량·예산 검토로 연결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실제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같은 지역의 교통과 상권을 다른 측정량으로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자료가 있다는 사실과 실제 광고효과를 측정했다는 주장을 구분한다.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04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47672"/>
            <a:ext cx="11109960" cy="713232"/>
          </a:xfrm>
          <a:prstGeom prst="rect">
            <a:avLst/>
          </a:prstGeom>
          <a:solidFill>
            <a:srgbClr val="142D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39112"/>
            <a:ext cx="10149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역할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039112"/>
            <a:ext cx="202082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공식 출처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039112"/>
            <a:ext cx="21579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39112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확보 범위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039112"/>
            <a:ext cx="28437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측정량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660904"/>
            <a:ext cx="111099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52344"/>
            <a:ext cx="10149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교통 맥락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2752344"/>
            <a:ext cx="202082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KTDB View-T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752344"/>
            <a:ext cx="21579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2024년 평일 연평균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52344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408개 링크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752344"/>
            <a:ext cx="28437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추정 차량 통행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374136"/>
            <a:ext cx="11109960" cy="713232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65576"/>
            <a:ext cx="10149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상권 맥락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3465576"/>
            <a:ext cx="202082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서울시 OA-22172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465576"/>
            <a:ext cx="21579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2024년 4개 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65576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마포구 16개 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465576"/>
            <a:ext cx="28437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보고된 전체 점포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4087368"/>
            <a:ext cx="111099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178807"/>
            <a:ext cx="10149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보조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20" y="4178807"/>
            <a:ext cx="202082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서울시 OA-22175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178807"/>
            <a:ext cx="21579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2025년 4개 분기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178807"/>
            <a:ext cx="19751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동일 후보 15개 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178807"/>
            <a:ext cx="284378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보고된 추정 거래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5047488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142D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312664"/>
            <a:ext cx="10561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Noto Sans CJK KR"/>
                <a:ea typeface="Noto Sans CJK KR"/>
              </a:rPr>
              <a:t>2024년 입력으로 후보 선택 → 2025년 거래 맥락과 회고적으로 비교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자료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결측을 0점으로 바꾸지 않고 비교 가능한 후보만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서로 다른 코드 체계는 연도·지역·고유 명칭을 검사한 대응표로 연결한다.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05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142D49"/>
                </a:solidFill>
                <a:latin typeface="Noto Sans CJK KR"/>
                <a:ea typeface="Noto Sans CJK KR"/>
              </a:rPr>
              <a:t>16개 행정동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617386"/>
                </a:solidFill>
                <a:latin typeface="Noto Sans CJK KR"/>
                <a:ea typeface="Noto Sans CJK KR"/>
              </a:rPr>
              <a:t>점포 자료의 완전한 분기·코드 검사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0791" y="2057400"/>
            <a:ext cx="914400" cy="36576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194767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087F8C"/>
                </a:solidFill>
                <a:latin typeface="Noto Sans CJK KR"/>
                <a:ea typeface="Noto Sans CJK KR"/>
              </a:rPr>
              <a:t>15개 비교 후보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670048"/>
            <a:ext cx="6035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>
                <a:solidFill>
                  <a:srgbClr val="617386"/>
                </a:solidFill>
                <a:latin typeface="Noto Sans CJK KR"/>
                <a:ea typeface="Noto Sans CJK KR"/>
              </a:rPr>
              <a:t>제외: 염리동 · 보유 도로 맥락 부재는 교통량 0이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794760"/>
            <a:ext cx="356616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D49"/>
                </a:solidFill>
                <a:latin typeface="Noto Sans CJK KR"/>
                <a:ea typeface="Noto Sans CJK KR"/>
              </a:rPr>
              <a:t>공간 정합성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59028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60" b="0">
                <a:solidFill>
                  <a:srgbClr val="263D50"/>
                </a:solidFill>
                <a:latin typeface="Noto Sans CJK KR"/>
                <a:ea typeface="Noto Sans CJK KR"/>
              </a:rPr>
              <a:t>기관 부여 링크–동 코드 사용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60" b="0">
                <a:solidFill>
                  <a:srgbClr val="263D50"/>
                </a:solidFill>
                <a:latin typeface="Noto Sans CJK KR"/>
                <a:ea typeface="Noto Sans CJK KR"/>
              </a:rPr>
              <a:t>ID·연장·동 명칭 대조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1104" y="3794760"/>
            <a:ext cx="356616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D49"/>
                </a:solidFill>
                <a:latin typeface="Noto Sans CJK KR"/>
                <a:ea typeface="Noto Sans CJK KR"/>
              </a:rPr>
              <a:t>시간 정합성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459028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60" b="0">
                <a:solidFill>
                  <a:srgbClr val="263D50"/>
                </a:solidFill>
                <a:latin typeface="Noto Sans CJK KR"/>
                <a:ea typeface="Noto Sans CJK KR"/>
              </a:rPr>
              <a:t>연평균 교통과 분기 점포 재고 구분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60" b="0">
                <a:solidFill>
                  <a:srgbClr val="263D50"/>
                </a:solidFill>
                <a:latin typeface="Noto Sans CJK KR"/>
                <a:ea typeface="Noto Sans CJK KR"/>
              </a:rPr>
              <a:t>현재 수정된 과거 자료임을 명시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3794760"/>
            <a:ext cx="3566160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42D49"/>
                </a:solidFill>
                <a:latin typeface="Noto Sans CJK KR"/>
                <a:ea typeface="Noto Sans CJK KR"/>
              </a:rPr>
              <a:t>측정 정합성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4590288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60" b="0">
                <a:solidFill>
                  <a:srgbClr val="263D50"/>
                </a:solidFill>
                <a:latin typeface="Noto Sans CJK KR"/>
                <a:ea typeface="Noto Sans CJK KR"/>
              </a:rPr>
              <a:t>인구의 평일 정의가 불명확하여 제외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60" b="0">
                <a:solidFill>
                  <a:srgbClr val="263D50"/>
                </a:solidFill>
                <a:latin typeface="Noto Sans CJK KR"/>
                <a:ea typeface="Noto Sans CJK KR"/>
              </a:rPr>
              <a:t>점포 전체·일반·프랜차이즈 중복 방지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5760720"/>
            <a:ext cx="11109960" cy="402336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833872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>
                <a:solidFill>
                  <a:srgbClr val="087F8C"/>
                </a:solidFill>
                <a:latin typeface="Noto Sans CJK KR"/>
                <a:ea typeface="Noto Sans CJK KR"/>
              </a:rPr>
              <a:t>도로 원본 해시·기관 코드·링크 길이 검사 / 업종 누락은 0으로 채우지 않음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융합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공간정보 처리와 산업공학 의사결정을 하나의 흐름으로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기존 GPS 분석 엔진을 유지하고, 공개 집계자료 연구를 독립된 경로로 추가했다.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06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01952"/>
            <a:ext cx="2596896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148840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D49"/>
                </a:solidFill>
                <a:latin typeface="Noto Sans CJK KR"/>
                <a:ea typeface="Noto Sans CJK KR"/>
              </a:rPr>
              <a:t>공식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834640"/>
            <a:ext cx="22677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교통·도로망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점포·거래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901952"/>
            <a:ext cx="2596896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2148840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D49"/>
                </a:solidFill>
                <a:latin typeface="Noto Sans CJK KR"/>
                <a:ea typeface="Noto Sans CJK KR"/>
              </a:rPr>
              <a:t>검사·연결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834640"/>
            <a:ext cx="22677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연도·공간키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중복·결측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901952"/>
            <a:ext cx="2596896" cy="2057400"/>
          </a:xfrm>
          <a:prstGeom prst="roundRect">
            <a:avLst>
              <a:gd name="adj" fmla="val 8000"/>
            </a:avLst>
          </a:prstGeom>
          <a:solidFill>
            <a:srgbClr val="142D49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148840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  <a:ea typeface="Noto Sans CJK KR"/>
              </a:rPr>
              <a:t>후보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834640"/>
            <a:ext cx="22677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D8ECEF"/>
                </a:solidFill>
                <a:latin typeface="Noto Sans CJK KR"/>
                <a:ea typeface="Noto Sans CJK KR"/>
              </a:rPr>
              <a:t>기준선 비교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D8ECEF"/>
                </a:solidFill>
                <a:latin typeface="Noto Sans CJK KR"/>
                <a:ea typeface="Noto Sans CJK KR"/>
              </a:rPr>
              <a:t>강건 집합 탐색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1901952"/>
            <a:ext cx="2596896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7" y="2148840"/>
            <a:ext cx="22677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D49"/>
                </a:solidFill>
                <a:latin typeface="Noto Sans CJK KR"/>
                <a:ea typeface="Noto Sans CJK KR"/>
              </a:rPr>
              <a:t>의사결정 화면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7" y="2834640"/>
            <a:ext cx="226771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지도·민감도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63D50"/>
                </a:solidFill>
                <a:latin typeface="Noto Sans CJK KR"/>
                <a:ea typeface="Noto Sans CJK KR"/>
              </a:rPr>
              <a:t>표·CSV 출력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4407408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59028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87F8C"/>
                </a:solidFill>
                <a:latin typeface="Noto Sans CJK KR"/>
                <a:ea typeface="Noto Sans CJK KR"/>
              </a:rPr>
              <a:t>기존 기능 보존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074920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80" b="0">
                <a:solidFill>
                  <a:srgbClr val="263D50"/>
                </a:solidFill>
                <a:latin typeface="Noto Sans CJK KR"/>
                <a:ea typeface="Noto Sans CJK KR"/>
              </a:rPr>
              <a:t>GPS 이동·정차 / 인구 지도 / 대표경로 / 재표집 분석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407408"/>
            <a:ext cx="546811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590288"/>
            <a:ext cx="5010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087F8C"/>
                </a:solidFill>
                <a:latin typeface="Noto Sans CJK KR"/>
                <a:ea typeface="Noto Sans CJK KR"/>
              </a:rPr>
              <a:t>새 연구 경로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74920"/>
            <a:ext cx="501091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60" b="0">
                <a:solidFill>
                  <a:srgbClr val="263D50"/>
                </a:solidFill>
                <a:latin typeface="Noto Sans CJK KR"/>
                <a:ea typeface="Noto Sans CJK KR"/>
              </a:rPr>
              <a:t>기관 집계자료 → 축소형 점수 → K개 집합의 선택 위험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5760720"/>
            <a:ext cx="11109960" cy="402336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5833872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>
                <a:solidFill>
                  <a:srgbClr val="087F8C"/>
                </a:solidFill>
                <a:latin typeface="Noto Sans CJK KR"/>
                <a:ea typeface="Noto Sans CJK KR"/>
              </a:rPr>
              <a:t>정보통신·GIS의 자료 처리 + 산업공학의 비교·최적화·의사결정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기준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점수의 구성과 가중치를 사용자가 확인한다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이번 실제 자료 모형은 점포·차량 맥락의 축소형이다. GPS 정차·반복 방문을 생성하지 않는다.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07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10512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142D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05740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Noto Sans CJK KR"/>
                <a:ea typeface="Noto Sans CJK KR"/>
              </a:rPr>
              <a:t>위치가치 C(α) = (1−α) × 공간 A + α × 이동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962656"/>
            <a:ext cx="3520440" cy="2414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962656"/>
            <a:ext cx="3520440" cy="59436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3145536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87F8C"/>
                </a:solidFill>
                <a:latin typeface="Noto Sans CJK KR"/>
                <a:ea typeface="Noto Sans CJK KR"/>
              </a:rPr>
              <a:t>A · 공간 성분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566160"/>
            <a:ext cx="31181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보고된 점포 재고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334256"/>
            <a:ext cx="311810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3D50"/>
                </a:solidFill>
                <a:latin typeface="Noto Sans CJK KR"/>
                <a:ea typeface="Noto Sans CJK KR"/>
              </a:rPr>
              <a:t>2024년 4개 분기 전체 점포의 평균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3D50"/>
                </a:solidFill>
                <a:latin typeface="Noto Sans CJK KR"/>
                <a:ea typeface="Noto Sans CJK KR"/>
              </a:rPr>
              <a:t>후보군 안에서 정규화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2962656"/>
            <a:ext cx="3520440" cy="2414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61104" y="2962656"/>
            <a:ext cx="3520440" cy="59436"/>
          </a:xfrm>
          <a:prstGeom prst="rect">
            <a:avLst/>
          </a:prstGeom>
          <a:solidFill>
            <a:srgbClr val="367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3145536"/>
            <a:ext cx="3118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67DB0"/>
                </a:solidFill>
                <a:latin typeface="Noto Sans CJK KR"/>
                <a:ea typeface="Noto Sans CJK KR"/>
              </a:rPr>
              <a:t>B · 이동 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566160"/>
            <a:ext cx="311810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차량 통행 맥락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4334256"/>
            <a:ext cx="3118104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3D50"/>
                </a:solidFill>
                <a:latin typeface="Noto Sans CJK KR"/>
                <a:ea typeface="Noto Sans CJK KR"/>
              </a:rPr>
              <a:t>일반도로 링크의 길이 가중 교통량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3D50"/>
                </a:solidFill>
                <a:latin typeface="Noto Sans CJK KR"/>
                <a:ea typeface="Noto Sans CJK KR"/>
              </a:rPr>
              <a:t>후보군 안에서 정규화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2962656"/>
            <a:ext cx="3648456" cy="2414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1856" y="2962656"/>
            <a:ext cx="3648456" cy="59436"/>
          </a:xfrm>
          <a:prstGeom prst="rect">
            <a:avLst/>
          </a:prstGeom>
          <a:solidFill>
            <a:srgbClr val="E58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314553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8A3B"/>
                </a:solidFill>
                <a:latin typeface="Noto Sans CJK KR"/>
                <a:ea typeface="Noto Sans CJK KR"/>
              </a:rPr>
              <a:t>C · 고정 가중합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356616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50:50 / 60:40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4334256"/>
            <a:ext cx="324612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기본·과거 가정으로 비교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경험적으로 검증된 최적값은 아님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" y="5760720"/>
            <a:ext cx="11109960" cy="402336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" y="5833872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>
                <a:solidFill>
                  <a:srgbClr val="087F8C"/>
                </a:solidFill>
                <a:latin typeface="Noto Sans CJK KR"/>
                <a:ea typeface="Noto Sans CJK KR"/>
              </a:rPr>
              <a:t>상수 특성은 정규화 0 / 서로 다른 측정량을 더해 실제 광고 노출량으로 해석하지 않음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제안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하나의 순위보다 K개 집합의 선택 손실을 최소화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최악후회 최소화는 기존 의사결정 방법이며, 실제 자료의 불확실성에 적용하는 데 기여를 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08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10512"/>
            <a:ext cx="6876288" cy="3639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103120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후회 = 해당 조건의 최선 K개 평균점수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             − 현재 선택한 K개 평균점수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474720"/>
            <a:ext cx="6217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63D50"/>
                </a:solidFill>
                <a:latin typeface="Noto Sans CJK KR"/>
                <a:ea typeface="Noto Sans CJK KR"/>
              </a:rPr>
              <a:t>고려한 조건 가운데 가장 큰 후회를 계산하고,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63D50"/>
                </a:solidFill>
                <a:latin typeface="Noto Sans CJK KR"/>
                <a:ea typeface="Noto Sans CJK KR"/>
              </a:rPr>
              <a:t>그 최댓값이 가장 작은 K개 집합을 선택한다.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681728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50" b="1">
                <a:solidFill>
                  <a:srgbClr val="087F8C"/>
                </a:solidFill>
                <a:latin typeface="Noto Sans CJK KR"/>
                <a:ea typeface="Noto Sans CJK KR"/>
              </a:rPr>
              <a:t>목적: min  [ max  (최선 효용 − 선택 효용)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1810512"/>
            <a:ext cx="4023360" cy="3639312"/>
          </a:xfrm>
          <a:prstGeom prst="roundRect">
            <a:avLst>
              <a:gd name="adj" fmla="val 8000"/>
            </a:avLst>
          </a:prstGeom>
          <a:solidFill>
            <a:srgbClr val="142D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2103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BDDCE2"/>
                </a:solidFill>
                <a:latin typeface="Noto Sans CJK KR"/>
                <a:ea typeface="Noto Sans CJK KR"/>
              </a:rPr>
              <a:t>완전 탐색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2761488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Noto Sans CJK KR"/>
                <a:ea typeface="Noto Sans CJK KR"/>
              </a:rPr>
              <a:t>3,003개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3785615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FFFFFF"/>
                </a:solidFill>
                <a:latin typeface="Noto Sans CJK KR"/>
                <a:ea typeface="Noto Sans CJK KR"/>
              </a:rPr>
              <a:t>후보 15개 중 5개 선택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FFFFFF"/>
                </a:solidFill>
                <a:latin typeface="Noto Sans CJK KR"/>
                <a:ea typeface="Noto Sans CJK KR"/>
              </a:rPr>
              <a:t>후회 기준 최적 조합 2개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5760720"/>
            <a:ext cx="11109960" cy="402336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5833872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>
                <a:solidFill>
                  <a:srgbClr val="087F8C"/>
                </a:solidFill>
                <a:latin typeface="Noto Sans CJK KR"/>
                <a:ea typeface="Noto Sans CJK KR"/>
              </a:rPr>
              <a:t>선형 가중합의 후회는 가중치에 대해 볼록 → 구간 양 끝 검사로 연속 범위의 최악값 계산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목적함수의 개선과 실제 성과를 구분해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주 분석 K=5, 보조 K=3·10 / 가중치 전체 0~100%와 제한 범위 30~70%를 함께 보고한다.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09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901952"/>
            <a:ext cx="11109960" cy="685800"/>
          </a:xfrm>
          <a:prstGeom prst="rect">
            <a:avLst/>
          </a:prstGeom>
          <a:solidFill>
            <a:srgbClr val="142D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268833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검증 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993392"/>
            <a:ext cx="4169663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1993392"/>
            <a:ext cx="3593591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해석 범위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587752"/>
            <a:ext cx="111099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9192"/>
            <a:ext cx="268833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동일 조건에서 무엇이 다른가?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679192"/>
            <a:ext cx="4169663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A / B / C50 / C60 / R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2679192"/>
            <a:ext cx="3593591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같은 후보군·같은 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273552"/>
            <a:ext cx="11109960" cy="685800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64992"/>
            <a:ext cx="268833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가정이 바뀌어도 유지되는가?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364992"/>
            <a:ext cx="4169663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분기·도로·정규화 정의 제외 검사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64992"/>
            <a:ext cx="3593591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자료 표현에 대한 견고함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959352"/>
            <a:ext cx="1110996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50791"/>
            <a:ext cx="2688336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다른 지표와 관련이 있는가?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4050791"/>
            <a:ext cx="4169663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2025년 추정 거래와 회고적으로 비교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4050791"/>
            <a:ext cx="3593591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외부 상권 맥락의 보조 검사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4983480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3036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087F8C"/>
                </a:solidFill>
                <a:latin typeface="Noto Sans CJK KR"/>
                <a:ea typeface="Noto Sans CJK KR"/>
              </a:rPr>
              <a:t>5개 점포 기준 × 4개 교통 정의 × 3개 정규화 × 가중치 구간 양 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989320"/>
            <a:ext cx="10515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30" b="0">
                <a:solidFill>
                  <a:srgbClr val="617386"/>
                </a:solidFill>
                <a:latin typeface="Noto Sans CJK KR"/>
                <a:ea typeface="Noto Sans CJK KR"/>
              </a:rPr>
              <a:t>시나리오 설계 행은 독립 표본이 아니다. 분기 4개를 재복제해 신뢰구간을 만들지 않는다.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주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더 견고한 선택을 위해 기본점수 효용을 일부 포기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K=5 · 가중치 0~100% · 값이 작을수록 해당 조건 집합에서 견고한 선택이다.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10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2938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20" b="0">
                <a:solidFill>
                  <a:srgbClr val="263D50"/>
                </a:solidFill>
                <a:latin typeface="Noto Sans CJK KR"/>
                <a:ea typeface="Noto Sans CJK KR"/>
              </a:rPr>
              <a:t>A  상권 단독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29384"/>
            <a:ext cx="3633107" cy="310896"/>
          </a:xfrm>
          <a:prstGeom prst="rect">
            <a:avLst/>
          </a:prstGeom>
          <a:solidFill>
            <a:srgbClr val="9AB0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8291" y="190195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63D50"/>
                </a:solidFill>
                <a:latin typeface="Noto Sans CJK KR"/>
                <a:ea typeface="Noto Sans CJK KR"/>
              </a:rPr>
              <a:t>0.4143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420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20" b="0">
                <a:solidFill>
                  <a:srgbClr val="263D50"/>
                </a:solidFill>
                <a:latin typeface="Noto Sans CJK KR"/>
                <a:ea typeface="Noto Sans CJK KR"/>
              </a:rPr>
              <a:t>B  교통 단독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542032"/>
            <a:ext cx="3507827" cy="310896"/>
          </a:xfrm>
          <a:prstGeom prst="rect">
            <a:avLst/>
          </a:prstGeom>
          <a:solidFill>
            <a:srgbClr val="9AB0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3011" y="25146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63D50"/>
                </a:solidFill>
                <a:latin typeface="Noto Sans CJK KR"/>
                <a:ea typeface="Noto Sans CJK KR"/>
              </a:rPr>
              <a:t>0.4000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546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20" b="0">
                <a:solidFill>
                  <a:srgbClr val="263D50"/>
                </a:solidFill>
                <a:latin typeface="Noto Sans CJK KR"/>
                <a:ea typeface="Noto Sans CJK KR"/>
              </a:rPr>
              <a:t>C  50:50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3154680"/>
            <a:ext cx="2756150" cy="310896"/>
          </a:xfrm>
          <a:prstGeom prst="rect">
            <a:avLst/>
          </a:prstGeom>
          <a:solidFill>
            <a:srgbClr val="9AB0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1334" y="312724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63D50"/>
                </a:solidFill>
                <a:latin typeface="Noto Sans CJK KR"/>
                <a:ea typeface="Noto Sans CJK KR"/>
              </a:rPr>
              <a:t>0.3143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673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20" b="0">
                <a:solidFill>
                  <a:srgbClr val="263D50"/>
                </a:solidFill>
                <a:latin typeface="Noto Sans CJK KR"/>
                <a:ea typeface="Noto Sans CJK KR"/>
              </a:rPr>
              <a:t>C  60:40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3767328"/>
            <a:ext cx="2756150" cy="310896"/>
          </a:xfrm>
          <a:prstGeom prst="rect">
            <a:avLst/>
          </a:prstGeom>
          <a:solidFill>
            <a:srgbClr val="9AB0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1334" y="373989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63D50"/>
                </a:solidFill>
                <a:latin typeface="Noto Sans CJK KR"/>
                <a:ea typeface="Noto Sans CJK KR"/>
              </a:rPr>
              <a:t>0.3143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7997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20" b="1">
                <a:solidFill>
                  <a:srgbClr val="087F8C"/>
                </a:solidFill>
                <a:latin typeface="Noto Sans CJK KR"/>
                <a:ea typeface="Noto Sans CJK KR"/>
              </a:rPr>
              <a:t>R  강건 선택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4379976"/>
            <a:ext cx="1753913" cy="310896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9097" y="4352544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87F8C"/>
                </a:solidFill>
                <a:latin typeface="Noto Sans CJK KR"/>
                <a:ea typeface="Noto Sans CJK KR"/>
              </a:rPr>
              <a:t>0.2000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45552" y="1828800"/>
            <a:ext cx="3794760" cy="3401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2093976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기본 효용과의 절충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2907792"/>
            <a:ext cx="333756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>50:50 기본점수의 평균 효용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>C50: 0.4393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>대표 R: 0.4273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>효용 차이: 0.0120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>같은 최적후회 조합 2개 공개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63D50"/>
                </a:solidFill>
                <a:latin typeface="Noto Sans CJK KR"/>
                <a:ea typeface="Noto Sans CJK KR"/>
              </a:rPr>
              <a:t>대표는 코드 순으로 선택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" y="5705856"/>
            <a:ext cx="11109960" cy="493776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5779008"/>
            <a:ext cx="10744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>
                <a:solidFill>
                  <a:srgbClr val="087F8C"/>
                </a:solidFill>
                <a:latin typeface="Noto Sans CJK KR"/>
                <a:ea typeface="Noto Sans CJK KR"/>
              </a:rPr>
              <a:t>이 값은 설계한 효용 기준의 손실이다. 광고효과·매출·예측 정확도 개선율이 아니다.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민감도·안정성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가중치·후보 수·자료 표현에 따른 선택 위험을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가중치 범위·후보 수·자료 표현에 대한 전체 결과를 공개한다.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11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810512"/>
            <a:ext cx="5257800" cy="521207"/>
          </a:xfrm>
          <a:prstGeom prst="rect">
            <a:avLst/>
          </a:prstGeom>
          <a:solidFill>
            <a:srgbClr val="142D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51206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01952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가중치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901952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C50 후회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01952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  <a:ea typeface="Noto Sans CJK KR"/>
              </a:rPr>
              <a:t>R 후회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331720"/>
            <a:ext cx="5257800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23160"/>
            <a:ext cx="51206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423160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0~100%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423160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0.2857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23160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0.2857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2852928"/>
            <a:ext cx="5257800" cy="521207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44368"/>
            <a:ext cx="51206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944368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30~70%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944368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0.1595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944368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0.1343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3374136"/>
            <a:ext cx="5257800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65576"/>
            <a:ext cx="51206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65576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0~100%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465576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0.3143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465576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0.2000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3895344"/>
            <a:ext cx="5257800" cy="521207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86783"/>
            <a:ext cx="51206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986783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30~70%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986783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0.1943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986783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0.0843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416552"/>
            <a:ext cx="5257800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07992"/>
            <a:ext cx="51206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507992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0~100%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4507992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0.1714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507992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0.0929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4937760"/>
            <a:ext cx="5257800" cy="521207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029200"/>
            <a:ext cx="51206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029200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30~70%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5029200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0.1071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029200"/>
            <a:ext cx="1289304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0.0393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1810512"/>
            <a:ext cx="5513832" cy="3639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048256"/>
            <a:ext cx="4965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D49"/>
                </a:solidFill>
                <a:latin typeface="Noto Sans CJK KR"/>
                <a:ea typeface="Noto Sans CJK KR"/>
              </a:rPr>
              <a:t>선택에 쓰지 않은 조건에서 확인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834640"/>
            <a:ext cx="496519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>점포 분기를 하나씩 제외: 4개 검사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>제외 분기의 후회: 0.2000~0.2000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>도로·정규화 정의 제외: 7개 검사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>제외 정의의 후회: 0.0898~0.2000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0352" y="5760720"/>
            <a:ext cx="11109960" cy="402336"/>
          </a:xfrm>
          <a:prstGeom prst="roundRect">
            <a:avLst>
              <a:gd name="adj" fmla="val 8000"/>
            </a:avLst>
          </a:prstGeom>
          <a:solidFill>
            <a:srgbClr val="FFF1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" y="5833872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>
                <a:solidFill>
                  <a:srgbClr val="A55D24"/>
                </a:solidFill>
                <a:latin typeface="Noto Sans CJK KR"/>
                <a:ea typeface="Noto Sans CJK KR"/>
              </a:rPr>
              <a:t>K=3 전체 범위에서는 C50과 R의 최악후회가 같다. 보편적 우월성으로 확대하지 않는다.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외부 맥락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외부 상권 지표로 결과의 해석 범위를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과거 예비값을 확인한 이후의 탐색적 검사다. 2025년 전 분기·업종 범위 결과를 함께 공개한다.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847088"/>
            <a:ext cx="6309360" cy="512064"/>
          </a:xfrm>
          <a:prstGeom prst="rect">
            <a:avLst/>
          </a:prstGeom>
          <a:solidFill>
            <a:srgbClr val="142D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1">
                <a:solidFill>
                  <a:srgbClr val="FFFFFF"/>
                </a:solidFill>
                <a:latin typeface="Noto Sans CJK KR"/>
                <a:ea typeface="Noto Sans CJK KR"/>
              </a:rPr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22037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1">
                <a:solidFill>
                  <a:srgbClr val="FFFFFF"/>
                </a:solidFill>
                <a:latin typeface="Noto Sans CJK KR"/>
                <a:ea typeface="Noto Sans CJK KR"/>
              </a:rPr>
              <a:t>선택 5개 동 거래 비중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38528"/>
            <a:ext cx="13807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1">
                <a:solidFill>
                  <a:srgbClr val="FFFFFF"/>
                </a:solidFill>
                <a:latin typeface="Noto Sans CJK KR"/>
                <a:ea typeface="Noto Sans CJK KR"/>
              </a:rPr>
              <a:t>순위상관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359152"/>
            <a:ext cx="6309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A  상권 단독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50592"/>
            <a:ext cx="22037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57.28%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450592"/>
            <a:ext cx="13807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0.6036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871216"/>
            <a:ext cx="6309360" cy="51206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B  교통 단독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962656"/>
            <a:ext cx="22037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21.01%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962656"/>
            <a:ext cx="13807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0.0179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383280"/>
            <a:ext cx="6309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C  50:50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474720"/>
            <a:ext cx="22037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51.17%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474720"/>
            <a:ext cx="13807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0.3036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3895344"/>
            <a:ext cx="6309360" cy="512064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3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C  60:40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986783"/>
            <a:ext cx="22037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51.17%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986783"/>
            <a:ext cx="13807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0">
                <a:solidFill>
                  <a:srgbClr val="263D50"/>
                </a:solidFill>
                <a:latin typeface="Noto Sans CJK KR"/>
                <a:ea typeface="Noto Sans CJK KR"/>
              </a:rPr>
              <a:t>0.2643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4407408"/>
            <a:ext cx="6309360" cy="512064"/>
          </a:xfrm>
          <a:prstGeom prst="rect">
            <a:avLst/>
          </a:prstGeom>
          <a:solidFill>
            <a:srgbClr val="EA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1">
                <a:solidFill>
                  <a:srgbClr val="087F8C"/>
                </a:solidFill>
                <a:latin typeface="Noto Sans CJK KR"/>
                <a:ea typeface="Noto Sans CJK KR"/>
              </a:rPr>
              <a:t>R  강건 선택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498848"/>
            <a:ext cx="22037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1">
                <a:solidFill>
                  <a:srgbClr val="087F8C"/>
                </a:solidFill>
                <a:latin typeface="Noto Sans CJK KR"/>
                <a:ea typeface="Noto Sans CJK KR"/>
              </a:rPr>
              <a:t>60.60%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498848"/>
            <a:ext cx="13807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40" b="1">
                <a:solidFill>
                  <a:srgbClr val="087F8C"/>
                </a:solidFill>
                <a:latin typeface="Noto Sans CJK KR"/>
                <a:ea typeface="Noto Sans CJK KR"/>
              </a:rPr>
              <a:t>집합 선택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14032" y="1847088"/>
            <a:ext cx="45262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2631" y="2084831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142D49"/>
                </a:solidFill>
                <a:latin typeface="Noto Sans CJK KR"/>
                <a:ea typeface="Noto Sans CJK KR"/>
              </a:rPr>
              <a:t>유리한 결과만 고르지 않는다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2631" y="2816352"/>
            <a:ext cx="40690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63D50"/>
                </a:solidFill>
                <a:latin typeface="Noto Sans CJK KR"/>
                <a:ea typeface="Noto Sans CJK KR"/>
              </a:rPr>
              <a:t>모든 후보·분기에 공통으로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63D50"/>
                </a:solidFill>
                <a:latin typeface="Noto Sans CJK KR"/>
                <a:ea typeface="Noto Sans CJK KR"/>
              </a:rPr>
              <a:t>보고된 업종만 보는 보조 검사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63D50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63D50"/>
                </a:solidFill>
                <a:latin typeface="Noto Sans CJK KR"/>
                <a:ea typeface="Noto Sans CJK KR"/>
              </a:rPr>
              <a:t>Q1 거래 비중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63D50"/>
                </a:solidFill>
                <a:latin typeface="Noto Sans CJK KR"/>
                <a:ea typeface="Noto Sans CJK KR"/>
              </a:rPr>
              <a:t>A: 62.28%  /  대표 R: 62.16%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63D50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63D50"/>
                </a:solidFill>
                <a:latin typeface="Noto Sans CJK KR"/>
                <a:ea typeface="Noto Sans CJK KR"/>
              </a:rPr>
              <a:t>외부 지표의 보편적 우위를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63D50"/>
                </a:solidFill>
                <a:latin typeface="Noto Sans CJK KR"/>
                <a:ea typeface="Noto Sans CJK KR"/>
              </a:rPr>
              <a:t>입증했다고 말할 수 없다.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5760720"/>
            <a:ext cx="11109960" cy="402336"/>
          </a:xfrm>
          <a:prstGeom prst="roundRect">
            <a:avLst>
              <a:gd name="adj" fmla="val 8000"/>
            </a:avLst>
          </a:prstGeom>
          <a:solidFill>
            <a:srgbClr val="EA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5833872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>
                <a:solidFill>
                  <a:srgbClr val="087F8C"/>
                </a:solidFill>
                <a:latin typeface="Noto Sans CJK KR"/>
                <a:ea typeface="Noto Sans CJK KR"/>
              </a:rPr>
              <a:t>거래 비중의 분모는 비교 후보 동의 합계 / 추정 거래는 실제 광고효과의 정답이 아님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GIS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설정을 바꾸면 지도·순위·선택 근거를 함께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현재 설정과 고정 연구 실험을 구분하고, 실제·추정·합성 자료의 표시를 유지한다.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792224"/>
            <a:ext cx="7818120" cy="4279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dashboard_live_control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927" y="1856231"/>
            <a:ext cx="7015825" cy="415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193852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핵심 후보와 대안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670048"/>
            <a:ext cx="2743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>공통 후보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>용강·서교·합정·상암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>최악후회 기준 교체 후보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>망원2동 / 성산2동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>기본 효용은 서로 다름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0">
                <a:solidFill>
                  <a:srgbClr val="263D50"/>
                </a:solidFill>
                <a:latin typeface="Noto Sans CJK KR"/>
                <a:ea typeface="Noto Sans CJK KR"/>
              </a:rPr>
              <a:t>R1 0.4273 / R2 0.3824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089904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17386"/>
                </a:solidFill>
                <a:latin typeface="Noto Sans CJK KR"/>
                <a:ea typeface="Noto Sans CJK KR"/>
              </a:rPr>
              <a:t>지도 좌표는 행정동 표시점이며 실제 배송 정차지가 아니다.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활용·결론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선택의 근거와 불확실성을 함께 전달하는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실제 자료의 연결 검증 + 조건부 최적성 + 불리한 외부 결과 공개가 이번 연구의 핵심이다.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14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47088"/>
            <a:ext cx="3566160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847088"/>
            <a:ext cx="3566160" cy="59436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029968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87F8C"/>
                </a:solidFill>
                <a:latin typeface="Noto Sans CJK KR"/>
                <a:ea typeface="Noto Sans CJK KR"/>
              </a:rPr>
              <a:t>실무 활용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450592"/>
            <a:ext cx="316382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지역 검토를 구조화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218688"/>
            <a:ext cx="3163824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3D50"/>
                </a:solidFill>
                <a:latin typeface="Noto Sans CJK KR"/>
                <a:ea typeface="Noto Sans CJK KR"/>
              </a:rPr>
              <a:t>후보를 좁히고 핵심·대안을 구분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3D50"/>
                </a:solidFill>
                <a:latin typeface="Noto Sans CJK KR"/>
                <a:ea typeface="Noto Sans CJK KR"/>
              </a:rPr>
              <a:t>선호 변경의 영향을 설명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263D50"/>
                </a:solidFill>
                <a:latin typeface="Noto Sans CJK KR"/>
                <a:ea typeface="Noto Sans CJK KR"/>
              </a:rPr>
              <a:t>결과를 지도·표로 전달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47088"/>
            <a:ext cx="3566160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47088"/>
            <a:ext cx="3566160" cy="59436"/>
          </a:xfrm>
          <a:prstGeom prst="rect">
            <a:avLst/>
          </a:prstGeom>
          <a:solidFill>
            <a:srgbClr val="367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029968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67DB0"/>
                </a:solidFill>
                <a:latin typeface="Noto Sans CJK KR"/>
                <a:ea typeface="Noto Sans CJK KR"/>
              </a:rPr>
              <a:t>융합·확장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450592"/>
            <a:ext cx="316382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같은 절차를 다른 업무로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218688"/>
            <a:ext cx="3163824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공간정보 + 의사결정 최적화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다른 자치구·시설 후보 검토로 확장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동일한 자료 정합성 검사가 전제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847088"/>
            <a:ext cx="3575304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CE6E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847088"/>
            <a:ext cx="3575304" cy="59436"/>
          </a:xfrm>
          <a:prstGeom prst="rect">
            <a:avLst/>
          </a:prstGeom>
          <a:solidFill>
            <a:srgbClr val="E58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2029968"/>
            <a:ext cx="3172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E58A3B"/>
                </a:solidFill>
                <a:latin typeface="Noto Sans CJK KR"/>
                <a:ea typeface="Noto Sans CJK KR"/>
              </a:rPr>
              <a:t>검증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450592"/>
            <a:ext cx="31729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142D49"/>
                </a:solidFill>
                <a:latin typeface="Noto Sans CJK KR"/>
                <a:ea typeface="Noto Sans CJK KR"/>
              </a:rPr>
              <a:t>조건을 명시한 결과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3218688"/>
            <a:ext cx="3172968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마포구 집계 후보·보고 업종의 한계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실제 광고효과·운행경로는 미검증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263D50"/>
                </a:solidFill>
                <a:latin typeface="Noto Sans CJK KR"/>
                <a:ea typeface="Noto Sans CJK KR"/>
              </a:rPr>
              <a:t>가산 효용·후보 수는 연구 가정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4828032"/>
            <a:ext cx="11109960" cy="1051560"/>
          </a:xfrm>
          <a:prstGeom prst="roundRect">
            <a:avLst>
              <a:gd name="adj" fmla="val 8000"/>
            </a:avLst>
          </a:prstGeom>
          <a:solidFill>
            <a:srgbClr val="142D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047488"/>
            <a:ext cx="10561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</a:rPr>
              <a:t>가중치 하나의 정답을 선언하기보다,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</a:rPr>
              <a:t>기준이 달라질 때의 선택 위험을 확인한다.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881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40" b="1">
                <a:solidFill>
                  <a:srgbClr val="087F8C"/>
                </a:solidFill>
                <a:latin typeface="Noto Sans CJK KR"/>
                <a:ea typeface="Noto Sans CJK KR"/>
              </a:rPr>
              <a:t>TRANSIT OOH  /  참고문헌·출처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0936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50" b="1">
                <a:solidFill>
                  <a:srgbClr val="142D49"/>
                </a:solidFill>
                <a:latin typeface="Noto Sans CJK KR"/>
                <a:ea typeface="Noto Sans CJK KR"/>
              </a:rPr>
              <a:t>자료의 출처와 해석 범위를 확인할 수 있도록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43584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0">
                <a:solidFill>
                  <a:srgbClr val="617386"/>
                </a:solidFill>
                <a:latin typeface="Noto Sans CJK KR"/>
                <a:ea typeface="Noto Sans CJK KR"/>
              </a:rPr>
              <a:t>모든 수치는 실제 확보한 집계표에서 재계산 / 기관 원본·인증키·개별 O/D는 공개 배포에서 제외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391656"/>
            <a:ext cx="11155680" cy="10972"/>
          </a:xfrm>
          <a:prstGeom prst="rect">
            <a:avLst/>
          </a:prstGeom>
          <a:solidFill>
            <a:srgbClr val="DC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10287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69" b="0">
                <a:solidFill>
                  <a:srgbClr val="617386"/>
                </a:solidFill>
                <a:latin typeface="Noto Sans CJK KR"/>
                <a:ea typeface="Noto Sans CJK KR"/>
              </a:rPr>
              <a:t>자료: 서울시·KTDB View-T / 공개 집계·추정자료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69" b="0">
                <a:solidFill>
                  <a:srgbClr val="617386"/>
                </a:solidFill>
                <a:latin typeface="Noto Sans CJK KR"/>
                <a:ea typeface="Noto Sans CJK KR"/>
              </a:rPr>
              <a:t>15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40" b="1">
                <a:solidFill>
                  <a:srgbClr val="142D49"/>
                </a:solidFill>
                <a:latin typeface="Noto Sans CJK KR"/>
                <a:ea typeface="Noto Sans CJK KR"/>
              </a:rPr>
              <a:t>[1] 서울특별시. 상권분석서비스(점포–행정동), 2024년.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10881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10" b="0">
                <a:solidFill>
                  <a:srgbClr val="617386"/>
                </a:solidFill>
                <a:latin typeface="Noto Sans CJK KR"/>
                <a:ea typeface="Noto Sans CJK KR"/>
              </a:rPr>
              <a:t>data.seoul.go.kr/dataList/OA-22172/S/1/datasetView.do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8775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40" b="1">
                <a:solidFill>
                  <a:srgbClr val="142D49"/>
                </a:solidFill>
                <a:latin typeface="Noto Sans CJK KR"/>
                <a:ea typeface="Noto Sans CJK KR"/>
              </a:rPr>
              <a:t>[2] 서울특별시. 상권분석서비스(추정매출–행정동), 2025년.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10881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10" b="0">
                <a:solidFill>
                  <a:srgbClr val="617386"/>
                </a:solidFill>
                <a:latin typeface="Noto Sans CJK KR"/>
                <a:ea typeface="Noto Sans CJK KR"/>
              </a:rPr>
              <a:t>data.seoul.go.kr/dataList/OA-22175/S/1/datasetView.do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64991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40" b="1">
                <a:solidFill>
                  <a:srgbClr val="142D49"/>
                </a:solidFill>
                <a:latin typeface="Noto Sans CJK KR"/>
                <a:ea typeface="Noto Sans CJK KR"/>
              </a:rPr>
              <a:t>[3] 한국교통연구원 KTDB. View-T 추정교통량·도로망, 2024년.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21607"/>
            <a:ext cx="10881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10" b="0">
                <a:solidFill>
                  <a:srgbClr val="617386"/>
                </a:solidFill>
                <a:latin typeface="Noto Sans CJK KR"/>
                <a:ea typeface="Noto Sans CJK KR"/>
              </a:rPr>
              <a:t>viewt.ktdb.go.kr/cong/map/page.do  /  cong/pdf/Trafficestimate.pdf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42231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40" b="1">
                <a:solidFill>
                  <a:srgbClr val="142D49"/>
                </a:solidFill>
                <a:latin typeface="Noto Sans CJK KR"/>
                <a:ea typeface="Noto Sans CJK KR"/>
              </a:rPr>
              <a:t>[4] Bertsimas, Brown &amp; Caramanis. Theory and Applications of Robust Optimization. 2010.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98847"/>
            <a:ext cx="10881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10" b="0">
                <a:solidFill>
                  <a:srgbClr val="617386"/>
                </a:solidFill>
                <a:latin typeface="Noto Sans CJK KR"/>
                <a:ea typeface="Noto Sans CJK KR"/>
              </a:rPr>
              <a:t>https://arxiv.org/abs/1010.5445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19472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40" b="1">
                <a:solidFill>
                  <a:srgbClr val="142D49"/>
                </a:solidFill>
                <a:latin typeface="Noto Sans CJK KR"/>
                <a:ea typeface="Noto Sans CJK KR"/>
              </a:rPr>
              <a:t>[5] Mastin, Jaillet &amp; Chin (2014). Randomized Minmax Regret for Combinatorial Optimization Under Uncertainty.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76088"/>
            <a:ext cx="10881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10" b="0">
                <a:solidFill>
                  <a:srgbClr val="617386"/>
                </a:solidFill>
                <a:latin typeface="Noto Sans CJK KR"/>
                <a:ea typeface="Noto Sans CJK KR"/>
              </a:rPr>
              <a:t>https://arxiv.org/abs/1401.7043  /  배경 문헌; 본 연구는 결정적 집합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2531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40" b="1">
                <a:solidFill>
                  <a:srgbClr val="087F8C"/>
                </a:solidFill>
                <a:latin typeface="Noto Sans CJK KR"/>
                <a:ea typeface="Noto Sans CJK KR"/>
              </a:rPr>
              <a:t>주의: View-T는 교통 맥락 입력이다. 기관 안내에 따라 광고효과의 독립 검증 정답으로 쓰지 않는다.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 OOH: 공개자료 기반 강건한 후보지역 선정</dc:title>
  <dc:subject>공개자료 기반 의사결정 연구</dc:subject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