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520000">
            <a:off x="-1508760" y="-1463040"/>
            <a:ext cx="3749039" cy="306324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7099280" y="-96012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508760" y="946404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580000">
            <a:off x="16596359" y="9372600"/>
            <a:ext cx="2880360" cy="242316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5590520" y="530352"/>
            <a:ext cx="2029968" cy="0"/>
          </a:xfrm>
          <a:prstGeom prst="line">
            <a:avLst/>
          </a:prstGeom>
          <a:ln w="20320">
            <a:solidFill>
              <a:srgbClr val="404040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18031968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7999829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7922240" y="649224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H="1">
            <a:off x="17760595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H="1">
            <a:off x="17693640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H="1" flipV="1">
            <a:off x="17760595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7922240" y="310896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 flipV="1">
            <a:off x="17999829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384048" y="10040112"/>
            <a:ext cx="17492472" cy="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30352" y="100766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404040"/>
                </a:solidFill>
                <a:latin typeface="Noto Sans CJK KR"/>
                <a:ea typeface="Noto Sans CJK KR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0067544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TRANSIT OOH  ·  PUBLIC-DATA DECISION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1006754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01 /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6072"/>
            <a:ext cx="8686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35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TRANSIT OOH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2130552"/>
            <a:ext cx="16002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RESEARCH PRESENTATION · MOBILITY DATA &amp; ROBUST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2761488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공개 교통·상권자료를 활용한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566160"/>
            <a:ext cx="14081760" cy="2066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6400" b="1" i="0" u="sng">
                <a:solidFill>
                  <a:srgbClr val="FF6F40"/>
                </a:solidFill>
                <a:latin typeface="Noto Sans CJK KR"/>
                <a:ea typeface="Noto Sans CJK KR"/>
              </a:rPr>
              <a:t>이동형 광고 후보지역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6400" b="1" i="0" u="sng">
                <a:solidFill>
                  <a:srgbClr val="FF6F40"/>
                </a:solidFill>
                <a:latin typeface="Noto Sans CJK KR"/>
                <a:ea typeface="Noto Sans CJK KR"/>
              </a:rPr>
              <a:t>선정 의사결정 시스템.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5943600"/>
            <a:ext cx="1508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1" u="none">
                <a:solidFill>
                  <a:srgbClr val="404040"/>
                </a:solidFill>
                <a:latin typeface="Noto Sans CJK KR"/>
                <a:ea typeface="Noto Sans CJK KR"/>
              </a:rPr>
              <a:t>공개 교통·상권자료와 최악후회 최소화를 중심으로.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6720840"/>
            <a:ext cx="153619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마포구 실제 집계 사례 · 선호 비중과 자료 표현에 따른 선택 위험 비교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6504920" y="2551176"/>
            <a:ext cx="0" cy="347472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sp>
        <p:nvSpPr>
          <p:cNvPr id="26" name="Trapezoid 25"/>
          <p:cNvSpPr/>
          <p:nvPr/>
        </p:nvSpPr>
        <p:spPr>
          <a:xfrm>
            <a:off x="16367759" y="2880360"/>
            <a:ext cx="274320" cy="237744"/>
          </a:xfrm>
          <a:prstGeom prst="trapezoid">
            <a:avLst/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6184880" y="3081527"/>
            <a:ext cx="640080" cy="640080"/>
          </a:xfrm>
          <a:prstGeom prst="ellipse">
            <a:avLst/>
          </a:prstGeom>
          <a:solidFill>
            <a:srgbClr val="FFDD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6440912" y="3191256"/>
            <a:ext cx="9143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>
            <a:off x="16568928" y="3191256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6450055" y="3483863"/>
            <a:ext cx="118873" cy="0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12371832" y="4133088"/>
            <a:ext cx="4517136" cy="1645920"/>
          </a:xfrm>
          <a:prstGeom prst="curvedConnector3">
            <a:avLst/>
          </a:prstGeom>
          <a:ln w="38100">
            <a:solidFill>
              <a:srgbClr val="3A5BA0"/>
            </a:solidFill>
          </a:ln>
          <a:effectLst/>
        </p:spPr>
      </p:cxnSp>
      <p:sp>
        <p:nvSpPr>
          <p:cNvPr id="32" name="Oval 31"/>
          <p:cNvSpPr/>
          <p:nvPr/>
        </p:nvSpPr>
        <p:spPr>
          <a:xfrm>
            <a:off x="12161520" y="4023360"/>
            <a:ext cx="219456" cy="219456"/>
          </a:xfrm>
          <a:prstGeom prst="ellipse">
            <a:avLst/>
          </a:prstGeom>
          <a:solidFill>
            <a:srgbClr val="3A5BA0"/>
          </a:solidFill>
          <a:ln w="12700">
            <a:solidFill>
              <a:srgbClr val="1725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3913632"/>
            <a:ext cx="22402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교통 맥락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2371832" y="5779008"/>
            <a:ext cx="4517136" cy="0"/>
          </a:xfrm>
          <a:prstGeom prst="line">
            <a:avLst/>
          </a:prstGeom>
          <a:ln w="38100">
            <a:solidFill>
              <a:srgbClr val="FF6F40"/>
            </a:solidFill>
          </a:ln>
          <a:effectLst/>
        </p:spPr>
      </p:cxnSp>
      <p:sp>
        <p:nvSpPr>
          <p:cNvPr id="35" name="Oval 34"/>
          <p:cNvSpPr/>
          <p:nvPr/>
        </p:nvSpPr>
        <p:spPr>
          <a:xfrm>
            <a:off x="12161520" y="5669280"/>
            <a:ext cx="219456" cy="219456"/>
          </a:xfrm>
          <a:prstGeom prst="ellipse">
            <a:avLst/>
          </a:prstGeom>
          <a:solidFill>
            <a:srgbClr val="FF6F40"/>
          </a:solidFill>
          <a:ln w="12700">
            <a:solidFill>
              <a:srgbClr val="1725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0" y="5559552"/>
            <a:ext cx="22402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상권 맥락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12371832" y="5779008"/>
            <a:ext cx="4517136" cy="1645919"/>
          </a:xfrm>
          <a:prstGeom prst="curvedConnector3">
            <a:avLst/>
          </a:prstGeom>
          <a:ln w="38100">
            <a:solidFill>
              <a:srgbClr val="0E9384"/>
            </a:solidFill>
          </a:ln>
          <a:effectLst/>
        </p:spPr>
      </p:cxnSp>
      <p:sp>
        <p:nvSpPr>
          <p:cNvPr id="38" name="Oval 37"/>
          <p:cNvSpPr/>
          <p:nvPr/>
        </p:nvSpPr>
        <p:spPr>
          <a:xfrm>
            <a:off x="12161520" y="7315200"/>
            <a:ext cx="219456" cy="219456"/>
          </a:xfrm>
          <a:prstGeom prst="ellipse">
            <a:avLst/>
          </a:prstGeom>
          <a:solidFill>
            <a:srgbClr val="0E9384"/>
          </a:solidFill>
          <a:ln w="12700">
            <a:solidFill>
              <a:srgbClr val="1725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0" y="7205472"/>
            <a:ext cx="22402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조건 변화</a:t>
            </a:r>
          </a:p>
        </p:txBody>
      </p:sp>
      <p:sp>
        <p:nvSpPr>
          <p:cNvPr id="40" name="Oval 39"/>
          <p:cNvSpPr/>
          <p:nvPr/>
        </p:nvSpPr>
        <p:spPr>
          <a:xfrm>
            <a:off x="16367759" y="5257800"/>
            <a:ext cx="1051560" cy="1051560"/>
          </a:xfrm>
          <a:prstGeom prst="ellipse">
            <a:avLst/>
          </a:prstGeom>
          <a:solidFill>
            <a:srgbClr val="0E9384"/>
          </a:solidFill>
          <a:ln w="12700">
            <a:solidFill>
              <a:srgbClr val="1725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386048" y="5431536"/>
            <a:ext cx="101498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42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8714232"/>
            <a:ext cx="3200400" cy="502920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8823959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공개자료 확보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4114800" y="8906256"/>
            <a:ext cx="219456" cy="118872"/>
          </a:xfrm>
          <a:prstGeom prst="rightArrow">
            <a:avLst/>
          </a:prstGeom>
          <a:solidFill>
            <a:srgbClr val="FF6F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434840" y="8714232"/>
            <a:ext cx="3200400" cy="502920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8823959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정합성 검사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7726680" y="8906256"/>
            <a:ext cx="219456" cy="118872"/>
          </a:xfrm>
          <a:prstGeom prst="rightArrow">
            <a:avLst/>
          </a:prstGeom>
          <a:solidFill>
            <a:srgbClr val="FF6F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046720" y="8714232"/>
            <a:ext cx="3200400" cy="502920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0" y="8823959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강건한 후보 선정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338560" y="8906256"/>
            <a:ext cx="219456" cy="118872"/>
          </a:xfrm>
          <a:prstGeom prst="rightArrow">
            <a:avLst/>
          </a:prstGeom>
          <a:solidFill>
            <a:srgbClr val="FF6F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658600" y="8714232"/>
            <a:ext cx="3200400" cy="502920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750040" y="8823959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GIS 의사결정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520000">
            <a:off x="-1508760" y="-1463040"/>
            <a:ext cx="3749039" cy="306324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7099280" y="-96012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508760" y="946404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580000">
            <a:off x="16596359" y="9372600"/>
            <a:ext cx="2880360" cy="242316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5590520" y="530352"/>
            <a:ext cx="2029968" cy="0"/>
          </a:xfrm>
          <a:prstGeom prst="line">
            <a:avLst/>
          </a:prstGeom>
          <a:ln w="20320">
            <a:solidFill>
              <a:srgbClr val="404040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18031968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7999829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7922240" y="649224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H="1">
            <a:off x="17760595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H="1">
            <a:off x="17693640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H="1" flipV="1">
            <a:off x="17760595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7922240" y="310896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 flipV="1">
            <a:off x="17999829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384048" y="10040112"/>
            <a:ext cx="17492472" cy="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30352" y="100766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404040"/>
                </a:solidFill>
                <a:latin typeface="Noto Sans CJK KR"/>
                <a:ea typeface="Noto Sans CJK KR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0067544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TRANSIT OOH  ·  PUBLIC-DATA DECISION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1006754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02 /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74904"/>
            <a:ext cx="160020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연구 배경 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1161288"/>
            <a:ext cx="16002000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FF6F40"/>
                </a:solidFill>
                <a:latin typeface="Noto Sans CJK KR"/>
                <a:ea typeface="Noto Sans CJK KR"/>
              </a:rPr>
              <a:t>문제 정의.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185416"/>
            <a:ext cx="1554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Research Background &amp; Problem Definition.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0" y="2578608"/>
            <a:ext cx="6766560" cy="0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744200" y="941832"/>
            <a:ext cx="0" cy="347472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sp>
        <p:nvSpPr>
          <p:cNvPr id="24" name="Trapezoid 23"/>
          <p:cNvSpPr/>
          <p:nvPr/>
        </p:nvSpPr>
        <p:spPr>
          <a:xfrm>
            <a:off x="10607040" y="1271016"/>
            <a:ext cx="274320" cy="237744"/>
          </a:xfrm>
          <a:prstGeom prst="trapezoid">
            <a:avLst/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24160" y="1472184"/>
            <a:ext cx="640080" cy="640080"/>
          </a:xfrm>
          <a:prstGeom prst="ellipse">
            <a:avLst/>
          </a:prstGeom>
          <a:solidFill>
            <a:srgbClr val="FFDD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0680192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H="1">
            <a:off x="10808208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10689336" y="1874519"/>
            <a:ext cx="118872" cy="0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612648" y="2761488"/>
            <a:ext cx="168706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• 배송운영에서 생기는 이동정보를, 광고 검토 지역의 선택 근거로 활용할 수 있는가?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9665208"/>
            <a:ext cx="1673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40" b="0" i="1" u="none">
                <a:solidFill>
                  <a:srgbClr val="63738B"/>
                </a:solidFill>
                <a:latin typeface="Noto Sans CJK KR"/>
                <a:ea typeface="Noto Sans CJK KR"/>
              </a:rPr>
              <a:t>개념도: 반복 순회형 배송운영을 설명하기 위한 도식이며 실제 운행기록이 아님.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337560"/>
            <a:ext cx="795527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반복 순회형 배송운영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2148840" y="4663440"/>
            <a:ext cx="4206239" cy="320039"/>
          </a:xfrm>
          <a:prstGeom prst="line">
            <a:avLst/>
          </a:prstGeom>
          <a:ln w="38100">
            <a:solidFill>
              <a:srgbClr val="9CA5B6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6355079" y="4663440"/>
            <a:ext cx="0" cy="2286000"/>
          </a:xfrm>
          <a:prstGeom prst="line">
            <a:avLst/>
          </a:prstGeom>
          <a:ln w="38100">
            <a:solidFill>
              <a:srgbClr val="9CA5B6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H="1">
            <a:off x="2148840" y="6949440"/>
            <a:ext cx="4206239" cy="320039"/>
          </a:xfrm>
          <a:prstGeom prst="line">
            <a:avLst/>
          </a:prstGeom>
          <a:ln w="38100">
            <a:solidFill>
              <a:srgbClr val="9CA5B6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 flipV="1">
            <a:off x="2148840" y="4983479"/>
            <a:ext cx="0" cy="2286000"/>
          </a:xfrm>
          <a:prstGeom prst="line">
            <a:avLst/>
          </a:prstGeom>
          <a:ln w="38100">
            <a:solidFill>
              <a:srgbClr val="9CA5B6"/>
            </a:solidFill>
          </a:ln>
          <a:effectLst/>
        </p:spPr>
      </p:cxnSp>
      <p:sp>
        <p:nvSpPr>
          <p:cNvPr id="36" name="Oval 35"/>
          <p:cNvSpPr/>
          <p:nvPr/>
        </p:nvSpPr>
        <p:spPr>
          <a:xfrm>
            <a:off x="1828800" y="46634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938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0" y="4745736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A</a:t>
            </a:r>
          </a:p>
        </p:txBody>
      </p:sp>
      <p:sp>
        <p:nvSpPr>
          <p:cNvPr id="38" name="Oval 37"/>
          <p:cNvSpPr/>
          <p:nvPr/>
        </p:nvSpPr>
        <p:spPr>
          <a:xfrm>
            <a:off x="6035040" y="43434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938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4425696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B</a:t>
            </a:r>
          </a:p>
        </p:txBody>
      </p:sp>
      <p:sp>
        <p:nvSpPr>
          <p:cNvPr id="40" name="Oval 39"/>
          <p:cNvSpPr/>
          <p:nvPr/>
        </p:nvSpPr>
        <p:spPr>
          <a:xfrm>
            <a:off x="6035040" y="66294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938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6711696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C</a:t>
            </a:r>
          </a:p>
        </p:txBody>
      </p:sp>
      <p:sp>
        <p:nvSpPr>
          <p:cNvPr id="42" name="Oval 41"/>
          <p:cNvSpPr/>
          <p:nvPr/>
        </p:nvSpPr>
        <p:spPr>
          <a:xfrm>
            <a:off x="1828800" y="69494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938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28800" y="7031736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1840" y="5212080"/>
            <a:ext cx="1357884" cy="663854"/>
          </a:xfrm>
          <a:prstGeom prst="roundRect">
            <a:avLst>
              <a:gd name="adj" fmla="val 10000"/>
            </a:avLst>
          </a:prstGeom>
          <a:solidFill>
            <a:srgbClr val="0E9384"/>
          </a:solidFill>
          <a:ln w="12700">
            <a:solidFill>
              <a:srgbClr val="1725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649724" y="5373014"/>
            <a:ext cx="583387" cy="502920"/>
          </a:xfrm>
          <a:prstGeom prst="roundRect">
            <a:avLst>
              <a:gd name="adj" fmla="val 10000"/>
            </a:avLst>
          </a:prstGeom>
          <a:solidFill>
            <a:srgbClr val="3A5BA0"/>
          </a:solidFill>
          <a:ln w="12700">
            <a:solidFill>
              <a:srgbClr val="1725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50308" y="5423306"/>
            <a:ext cx="301752" cy="181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623767" y="5765292"/>
            <a:ext cx="321868" cy="321868"/>
          </a:xfrm>
          <a:prstGeom prst="ellipse">
            <a:avLst/>
          </a:prstGeom>
          <a:solidFill>
            <a:srgbClr val="1725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14292" y="5855817"/>
            <a:ext cx="140817" cy="14081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850892" y="5765292"/>
            <a:ext cx="321868" cy="321868"/>
          </a:xfrm>
          <a:prstGeom prst="ellipse">
            <a:avLst/>
          </a:prstGeom>
          <a:solidFill>
            <a:srgbClr val="1725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941417" y="5855817"/>
            <a:ext cx="140817" cy="14081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7918704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물류 거점을 반복적으로 방문하는 밀크런형 운행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8924544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Fig.1. 배송활동에서 발생하는 정보의 추가 활용.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3346704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원래의 연구 아이디어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3931920"/>
            <a:ext cx="786384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이동·정차·반복방문과 주변 공간정보를 연결해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차량을 이동 데이터가 생성되는 플랫폼으로 본다.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235440" y="4855464"/>
            <a:ext cx="8092440" cy="0"/>
          </a:xfrm>
          <a:prstGeom prst="line">
            <a:avLst/>
          </a:prstGeom>
          <a:ln w="15240">
            <a:solidFill>
              <a:srgbClr val="CDD4DF"/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9235440" y="5102352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실무에서 필요한 결정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5687568"/>
            <a:ext cx="786384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상권과 교통 중 무엇을 더 중요하게 볼지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확정하기 전에 검토할 후보지역을 좁힌다.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235440" y="6611112"/>
            <a:ext cx="8092440" cy="0"/>
          </a:xfrm>
          <a:prstGeom prst="line">
            <a:avLst/>
          </a:prstGeom>
          <a:ln w="15240">
            <a:solidFill>
              <a:srgbClr val="CDD4DF"/>
            </a:solidFill>
          </a:ln>
          <a:effectLst/>
        </p:spPr>
      </p:cxnSp>
      <p:sp>
        <p:nvSpPr>
          <p:cNvPr id="59" name="TextBox 58"/>
          <p:cNvSpPr txBox="1"/>
          <p:nvPr/>
        </p:nvSpPr>
        <p:spPr>
          <a:xfrm>
            <a:off x="9235440" y="6858000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 i="0" u="none">
                <a:solidFill>
                  <a:srgbClr val="FF6F40"/>
                </a:solidFill>
                <a:latin typeface="Noto Sans CJK KR"/>
                <a:ea typeface="Noto Sans CJK KR"/>
              </a:rPr>
              <a:t>이번 연구의 초점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5440" y="7443216"/>
            <a:ext cx="786384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실제 배송 GPS를 확보했다고 가정하지 않고,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공개자료로 비교 가능한 지역의 선택 위험을 분석한다.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235440" y="8366760"/>
            <a:ext cx="8092440" cy="0"/>
          </a:xfrm>
          <a:prstGeom prst="line">
            <a:avLst/>
          </a:prstGeom>
          <a:ln w="15240">
            <a:solidFill>
              <a:srgbClr val="CDD4DF"/>
            </a:solidFill>
          </a:ln>
          <a:effectLst/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520000">
            <a:off x="-1508760" y="-1463040"/>
            <a:ext cx="3749039" cy="306324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7099280" y="-96012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508760" y="946404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580000">
            <a:off x="16596359" y="9372600"/>
            <a:ext cx="2880360" cy="242316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5590520" y="530352"/>
            <a:ext cx="2029968" cy="0"/>
          </a:xfrm>
          <a:prstGeom prst="line">
            <a:avLst/>
          </a:prstGeom>
          <a:ln w="20320">
            <a:solidFill>
              <a:srgbClr val="404040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18031968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7999829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7922240" y="649224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H="1">
            <a:off x="17760595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H="1">
            <a:off x="17693640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H="1" flipV="1">
            <a:off x="17760595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7922240" y="310896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 flipV="1">
            <a:off x="17999829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384048" y="10040112"/>
            <a:ext cx="17492472" cy="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30352" y="100766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404040"/>
                </a:solidFill>
                <a:latin typeface="Noto Sans CJK KR"/>
                <a:ea typeface="Noto Sans CJK KR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0067544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TRANSIT OOH  ·  PUBLIC-DATA DECISION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1006754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03 /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74904"/>
            <a:ext cx="160020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연구의 전개 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1161288"/>
            <a:ext cx="16002000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FF6F40"/>
                </a:solidFill>
                <a:latin typeface="Noto Sans CJK KR"/>
                <a:ea typeface="Noto Sans CJK KR"/>
              </a:rPr>
              <a:t>분석 범위.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185416"/>
            <a:ext cx="1554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Research Development &amp; Scope.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0" y="2578608"/>
            <a:ext cx="6766560" cy="0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744200" y="941832"/>
            <a:ext cx="0" cy="347472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sp>
        <p:nvSpPr>
          <p:cNvPr id="24" name="Trapezoid 23"/>
          <p:cNvSpPr/>
          <p:nvPr/>
        </p:nvSpPr>
        <p:spPr>
          <a:xfrm>
            <a:off x="10607040" y="1271016"/>
            <a:ext cx="274320" cy="237744"/>
          </a:xfrm>
          <a:prstGeom prst="trapezoid">
            <a:avLst/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24160" y="1472184"/>
            <a:ext cx="640080" cy="640080"/>
          </a:xfrm>
          <a:prstGeom prst="ellipse">
            <a:avLst/>
          </a:prstGeom>
          <a:solidFill>
            <a:srgbClr val="FFDD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0680192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H="1">
            <a:off x="10808208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10689336" y="1874519"/>
            <a:ext cx="118872" cy="0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612648" y="2761488"/>
            <a:ext cx="168706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• 1·2·3차 개발 흐름을 유지하면서, 이번 제출에서는 실제 공개자료의 비교 결과를 검증했다.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3429000"/>
            <a:ext cx="3858768" cy="50292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1725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538728"/>
            <a:ext cx="367588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1차 · 아이디어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251960"/>
            <a:ext cx="368503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배송 이동데이터의 추가 활용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이동·공간 관점의 위치가치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700016" y="3694176"/>
            <a:ext cx="274320" cy="137160"/>
          </a:xfrm>
          <a:prstGeom prst="rightArrow">
            <a:avLst/>
          </a:prstGeom>
          <a:solidFill>
            <a:srgbClr val="9CA5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65776" y="3429000"/>
            <a:ext cx="3858768" cy="50292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1725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57216" y="3538728"/>
            <a:ext cx="367588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2차 · PoC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57216" y="4251960"/>
            <a:ext cx="368503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GPS 기반 정차·방문 분석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합성 예제로 계산 구조 확인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052560" y="3694176"/>
            <a:ext cx="274320" cy="137160"/>
          </a:xfrm>
          <a:prstGeom prst="rightArrow">
            <a:avLst/>
          </a:prstGeom>
          <a:solidFill>
            <a:srgbClr val="9CA5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418319" y="3429000"/>
            <a:ext cx="3858768" cy="50292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1725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59" y="3538728"/>
            <a:ext cx="367588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3차 · 확보 체계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59" y="4251960"/>
            <a:ext cx="368503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View-T 도로망·파일 입력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공식 자료 확보·연동 준비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3405104" y="3694176"/>
            <a:ext cx="274320" cy="137160"/>
          </a:xfrm>
          <a:prstGeom prst="rightArrow">
            <a:avLst/>
          </a:prstGeom>
          <a:solidFill>
            <a:srgbClr val="9CA5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3770863" y="3429000"/>
            <a:ext cx="3858768" cy="50292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 w="12700">
            <a:solidFill>
              <a:srgbClr val="0E938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862303" y="3538728"/>
            <a:ext cx="367588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현재 · 실제 연구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862303" y="4251960"/>
            <a:ext cx="368503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2024 교통·상권 결합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모델 비교·강건 선택·GIS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31520" y="5870448"/>
            <a:ext cx="16806672" cy="0"/>
          </a:xfrm>
          <a:prstGeom prst="line">
            <a:avLst/>
          </a:prstGeom>
          <a:ln w="15240">
            <a:solidFill>
              <a:srgbClr val="CDD4DF"/>
            </a:solidFill>
          </a:ln>
          <a:effectLst/>
        </p:spPr>
      </p:cxnSp>
      <p:sp>
        <p:nvSpPr>
          <p:cNvPr id="46" name="Rectangle 45"/>
          <p:cNvSpPr/>
          <p:nvPr/>
        </p:nvSpPr>
        <p:spPr>
          <a:xfrm>
            <a:off x="749808" y="6409944"/>
            <a:ext cx="16687800" cy="795528"/>
          </a:xfrm>
          <a:prstGeom prst="rect">
            <a:avLst/>
          </a:prstGeom>
          <a:solidFill>
            <a:srgbClr val="1725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749808" y="7205472"/>
            <a:ext cx="16687800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868680" y="6510528"/>
            <a:ext cx="305409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분석 경로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041648" y="6409944"/>
            <a:ext cx="0" cy="795528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4160520" y="6510528"/>
            <a:ext cx="666597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입력과 계산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945367" y="6409944"/>
            <a:ext cx="0" cy="795528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11064240" y="6510528"/>
            <a:ext cx="625449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이번 발표에서의 지위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8" y="7205472"/>
            <a:ext cx="16687800" cy="795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749808" y="8001000"/>
            <a:ext cx="16687800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868680" y="7306056"/>
            <a:ext cx="305409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기존 GPS 엔진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041648" y="7205472"/>
            <a:ext cx="0" cy="795528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4160520" y="7306056"/>
            <a:ext cx="666597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정차시간 · 비정차 존재시간 · 반복방문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945367" y="7205472"/>
            <a:ext cx="0" cy="795528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59" name="TextBox 58"/>
          <p:cNvSpPr txBox="1"/>
          <p:nvPr/>
        </p:nvSpPr>
        <p:spPr>
          <a:xfrm>
            <a:off x="11064240" y="7306056"/>
            <a:ext cx="625449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구현·합성 검증 / 실제 배송 GPS는 미확보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9808" y="8001000"/>
            <a:ext cx="16687800" cy="795528"/>
          </a:xfrm>
          <a:prstGeom prst="rect">
            <a:avLst/>
          </a:prstGeom>
          <a:solidFill>
            <a:srgbClr val="E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749808" y="8796528"/>
            <a:ext cx="16687800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868680" y="8101583"/>
            <a:ext cx="305409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실제 공개자료 연구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041648" y="8001000"/>
            <a:ext cx="0" cy="795528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64" name="TextBox 63"/>
          <p:cNvSpPr txBox="1"/>
          <p:nvPr/>
        </p:nvSpPr>
        <p:spPr>
          <a:xfrm>
            <a:off x="4160520" y="8101583"/>
            <a:ext cx="666597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연평균 차량 맥락 · 분기 점포 재고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0945367" y="8001000"/>
            <a:ext cx="0" cy="795528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66" name="TextBox 65"/>
          <p:cNvSpPr txBox="1"/>
          <p:nvPr/>
        </p:nvSpPr>
        <p:spPr>
          <a:xfrm>
            <a:off x="11064240" y="8101583"/>
            <a:ext cx="625449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실제 기관 자료를 연결한 후보 행정동 비교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6384" y="9034272"/>
            <a:ext cx="16459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현재의 실제 모델은 축소형이다. 교통량에서 정차시간이나 방문횟수를 만들어 넣지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520000">
            <a:off x="-1508760" y="-1463040"/>
            <a:ext cx="3749039" cy="306324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7099280" y="-96012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508760" y="946404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580000">
            <a:off x="16596359" y="9372600"/>
            <a:ext cx="2880360" cy="242316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5590520" y="530352"/>
            <a:ext cx="2029968" cy="0"/>
          </a:xfrm>
          <a:prstGeom prst="line">
            <a:avLst/>
          </a:prstGeom>
          <a:ln w="20320">
            <a:solidFill>
              <a:srgbClr val="404040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18031968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7999829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7922240" y="649224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H="1">
            <a:off x="17760595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H="1">
            <a:off x="17693640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H="1" flipV="1">
            <a:off x="17760595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7922240" y="310896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 flipV="1">
            <a:off x="17999829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384048" y="10040112"/>
            <a:ext cx="17492472" cy="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30352" y="100766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404040"/>
                </a:solidFill>
                <a:latin typeface="Noto Sans CJK KR"/>
                <a:ea typeface="Noto Sans CJK KR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0067544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TRANSIT OOH  ·  PUBLIC-DATA DECISION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1006754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04 /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74904"/>
            <a:ext cx="160020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실제 데이터의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1161288"/>
            <a:ext cx="16002000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FF6F40"/>
                </a:solidFill>
                <a:latin typeface="Noto Sans CJK KR"/>
                <a:ea typeface="Noto Sans CJK KR"/>
              </a:rPr>
              <a:t>확보 및 연결.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185416"/>
            <a:ext cx="1554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Acquired Data &amp; Source Alignment.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0" y="2578608"/>
            <a:ext cx="6766560" cy="0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744200" y="941832"/>
            <a:ext cx="0" cy="347472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sp>
        <p:nvSpPr>
          <p:cNvPr id="24" name="Trapezoid 23"/>
          <p:cNvSpPr/>
          <p:nvPr/>
        </p:nvSpPr>
        <p:spPr>
          <a:xfrm>
            <a:off x="10607040" y="1271016"/>
            <a:ext cx="274320" cy="237744"/>
          </a:xfrm>
          <a:prstGeom prst="trapezoid">
            <a:avLst/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24160" y="1472184"/>
            <a:ext cx="640080" cy="640080"/>
          </a:xfrm>
          <a:prstGeom prst="ellipse">
            <a:avLst/>
          </a:prstGeom>
          <a:solidFill>
            <a:srgbClr val="FFDD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0680192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H="1">
            <a:off x="10808208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10689336" y="1874519"/>
            <a:ext cx="118872" cy="0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612648" y="2761488"/>
            <a:ext cx="168706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• 연도·지역·공간키와 측정량을 검사한 뒤, 동일 후보군에서 비교한다.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9665208"/>
            <a:ext cx="1673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40" b="0" i="1" u="none">
                <a:solidFill>
                  <a:srgbClr val="63738B"/>
                </a:solidFill>
                <a:latin typeface="Noto Sans CJK KR"/>
                <a:ea typeface="Noto Sans CJK KR"/>
              </a:rPr>
              <a:t>자료: 서울시 OA-22172(2024 점포), OA-22175(2025 추정거래), KTDB View-T(2024 교통·도로망). [D1–D3]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456432"/>
            <a:ext cx="49377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8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408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663440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63738B"/>
                </a:solidFill>
                <a:latin typeface="Noto Sans CJK KR"/>
                <a:ea typeface="Noto Sans CJK KR"/>
              </a:rPr>
              <a:t>교통·속도·도로망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63738B"/>
                </a:solidFill>
                <a:latin typeface="Noto Sans CJK KR"/>
                <a:ea typeface="Noto Sans CJK KR"/>
              </a:rPr>
              <a:t>ID·연장 일치 링크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456432"/>
            <a:ext cx="49377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8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5,694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663440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63738B"/>
                </a:solidFill>
                <a:latin typeface="Noto Sans CJK KR"/>
                <a:ea typeface="Noto Sans CJK KR"/>
              </a:rPr>
              <a:t>마포구 동×분기×업종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63738B"/>
                </a:solidFill>
                <a:latin typeface="Noto Sans CJK KR"/>
                <a:ea typeface="Noto Sans CJK KR"/>
              </a:rPr>
              <a:t>보고 점포 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27280" y="3456432"/>
            <a:ext cx="49377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800" b="1" i="0" u="none">
                <a:solidFill>
                  <a:srgbClr val="FF6F40"/>
                </a:solidFill>
                <a:latin typeface="Noto Sans CJK KR"/>
                <a:ea typeface="Noto Sans CJK KR"/>
              </a:rPr>
              <a:t>16 → 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527280" y="4663440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63738B"/>
                </a:solidFill>
                <a:latin typeface="Noto Sans CJK KR"/>
                <a:ea typeface="Noto Sans CJK KR"/>
              </a:rPr>
              <a:t>행정동 전체 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63738B"/>
                </a:solidFill>
                <a:latin typeface="Noto Sans CJK KR"/>
                <a:ea typeface="Noto Sans CJK KR"/>
              </a:rPr>
              <a:t>비교 가능한 후보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5577840"/>
            <a:ext cx="16687800" cy="713232"/>
          </a:xfrm>
          <a:prstGeom prst="rect">
            <a:avLst/>
          </a:prstGeom>
          <a:solidFill>
            <a:srgbClr val="1725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749808" y="6291072"/>
            <a:ext cx="16687800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868680" y="5678424"/>
            <a:ext cx="346557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자료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453128" y="5577840"/>
            <a:ext cx="0" cy="713232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4572000" y="5678424"/>
            <a:ext cx="524865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기준 · 단위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939528" y="5577840"/>
            <a:ext cx="0" cy="713232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10058400" y="5678424"/>
            <a:ext cx="726033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적용과 해석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" y="6291072"/>
            <a:ext cx="166878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749808" y="7004304"/>
            <a:ext cx="16687800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868680" y="6391656"/>
            <a:ext cx="346557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View-T 도로 맥락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453128" y="6291072"/>
            <a:ext cx="0" cy="713232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4572000" y="6391656"/>
            <a:ext cx="524865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2024 평일 연평균 · 도로 링크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939528" y="6291072"/>
            <a:ext cx="0" cy="713232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10058400" y="6391656"/>
            <a:ext cx="726033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기관 추정 교통량 / 실제 배송 궤적과 구분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8" y="7004304"/>
            <a:ext cx="166878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749808" y="7717536"/>
            <a:ext cx="16687800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868680" y="7104888"/>
            <a:ext cx="346557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서울시 점포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453128" y="7004304"/>
            <a:ext cx="0" cy="713232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4572000" y="7104888"/>
            <a:ext cx="524865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2024 4개 분기 · 동×업종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939528" y="7004304"/>
            <a:ext cx="0" cy="713232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10058400" y="7104888"/>
            <a:ext cx="726033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보고된 전체 점포 재고 / 연간 신규 점포 수 아님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9808" y="7717536"/>
            <a:ext cx="166878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749808" y="8430767"/>
            <a:ext cx="16687800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868680" y="7818119"/>
            <a:ext cx="346557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서울시 추정매출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453128" y="7717536"/>
            <a:ext cx="0" cy="713231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4572000" y="7818119"/>
            <a:ext cx="524865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2025 4개 분기 · 동×업종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939528" y="7717536"/>
            <a:ext cx="0" cy="713231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64" name="TextBox 63"/>
          <p:cNvSpPr txBox="1"/>
          <p:nvPr/>
        </p:nvSpPr>
        <p:spPr>
          <a:xfrm>
            <a:off x="10058400" y="7818119"/>
            <a:ext cx="726033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추정 거래 건수 / 선택 결과의 보조 맥락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6384" y="8714232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 u="none">
                <a:solidFill>
                  <a:srgbClr val="FF6F40"/>
                </a:solidFill>
                <a:latin typeface="Noto Sans CJK KR"/>
                <a:ea typeface="Noto Sans CJK KR"/>
              </a:rPr>
              <a:t>제외 원칙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0" y="8741664"/>
            <a:ext cx="1453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염리동은 보유 도로 맥락이 없어 제외한다. 결측을 교통량 0으로 해석하지 않는다.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520000">
            <a:off x="-1508760" y="-1463040"/>
            <a:ext cx="3749039" cy="306324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7099280" y="-96012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508760" y="946404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580000">
            <a:off x="16596359" y="9372600"/>
            <a:ext cx="2880360" cy="242316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5590520" y="530352"/>
            <a:ext cx="2029968" cy="0"/>
          </a:xfrm>
          <a:prstGeom prst="line">
            <a:avLst/>
          </a:prstGeom>
          <a:ln w="20320">
            <a:solidFill>
              <a:srgbClr val="404040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18031968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7999829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7922240" y="649224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H="1">
            <a:off x="17760595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H="1">
            <a:off x="17693640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H="1" flipV="1">
            <a:off x="17760595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7922240" y="310896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 flipV="1">
            <a:off x="17999829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384048" y="10040112"/>
            <a:ext cx="17492472" cy="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30352" y="100766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404040"/>
                </a:solidFill>
                <a:latin typeface="Noto Sans CJK KR"/>
                <a:ea typeface="Noto Sans CJK KR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0067544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TRANSIT OOH  ·  PUBLIC-DATA DECISION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1006754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05 /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74904"/>
            <a:ext cx="160020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공간정보 처리와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1161288"/>
            <a:ext cx="16002000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FF6F40"/>
                </a:solidFill>
                <a:latin typeface="Noto Sans CJK KR"/>
                <a:ea typeface="Noto Sans CJK KR"/>
              </a:rPr>
              <a:t>정합성 검증.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185416"/>
            <a:ext cx="1554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Data Engineering &amp; Quality Control.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0" y="2578608"/>
            <a:ext cx="6766560" cy="0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744200" y="941832"/>
            <a:ext cx="0" cy="347472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sp>
        <p:nvSpPr>
          <p:cNvPr id="24" name="Trapezoid 23"/>
          <p:cNvSpPr/>
          <p:nvPr/>
        </p:nvSpPr>
        <p:spPr>
          <a:xfrm>
            <a:off x="10607040" y="1271016"/>
            <a:ext cx="274320" cy="237744"/>
          </a:xfrm>
          <a:prstGeom prst="trapezoid">
            <a:avLst/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24160" y="1472184"/>
            <a:ext cx="640080" cy="640080"/>
          </a:xfrm>
          <a:prstGeom prst="ellipse">
            <a:avLst/>
          </a:prstGeom>
          <a:solidFill>
            <a:srgbClr val="FFDD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0680192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H="1">
            <a:off x="10808208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10689336" y="1874519"/>
            <a:ext cx="118872" cy="0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612648" y="2761488"/>
            <a:ext cx="168706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• 서로 다른 기관 코드를 명칭·연도·고유성으로 대응하고, 기관이 부여한 도로–동 키를 사용한다.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9665208"/>
            <a:ext cx="1673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40" b="0" i="1" u="none">
                <a:solidFill>
                  <a:srgbClr val="63738B"/>
                </a:solidFill>
                <a:latin typeface="Noto Sans CJK KR"/>
                <a:ea typeface="Noto Sans CJK KR"/>
              </a:rPr>
              <a:t>표시점 출처: 기존 공식 2024 동별 유입 집계표. 지도 좌표는 배송 거점·정차 위치가 아님. [D1,D3]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3346704"/>
            <a:ext cx="2980944" cy="502920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3456432"/>
            <a:ext cx="27980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원본 수집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822191" y="3547872"/>
            <a:ext cx="246888" cy="128016"/>
          </a:xfrm>
          <a:prstGeom prst="rightArrow">
            <a:avLst/>
          </a:prstGeom>
          <a:solidFill>
            <a:srgbClr val="FF6F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197096" y="3346704"/>
            <a:ext cx="2980944" cy="502920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88536" y="3456432"/>
            <a:ext cx="27980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코드·연도 검사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269479" y="3547872"/>
            <a:ext cx="246888" cy="128016"/>
          </a:xfrm>
          <a:prstGeom prst="rightArrow">
            <a:avLst/>
          </a:prstGeom>
          <a:solidFill>
            <a:srgbClr val="FF6F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44383" y="3346704"/>
            <a:ext cx="2980944" cy="502920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35823" y="3456432"/>
            <a:ext cx="27980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동별 특성 집계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0716767" y="3547872"/>
            <a:ext cx="246888" cy="128016"/>
          </a:xfrm>
          <a:prstGeom prst="rightArrow">
            <a:avLst/>
          </a:prstGeom>
          <a:solidFill>
            <a:srgbClr val="FF6F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1091672" y="3346704"/>
            <a:ext cx="2980944" cy="502920"/>
          </a:xfrm>
          <a:prstGeom prst="roundRect">
            <a:avLst>
              <a:gd name="adj" fmla="val 10000"/>
            </a:avLst>
          </a:prstGeom>
          <a:solidFill>
            <a:srgbClr val="0E9384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83112" y="3456432"/>
            <a:ext cx="27980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점수·후보 선택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14164056" y="3547872"/>
            <a:ext cx="246888" cy="128016"/>
          </a:xfrm>
          <a:prstGeom prst="rightArrow">
            <a:avLst/>
          </a:prstGeom>
          <a:solidFill>
            <a:srgbClr val="FF6F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4538960" y="3346704"/>
            <a:ext cx="2980944" cy="502920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630400" y="3456432"/>
            <a:ext cx="27980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지도·표·CSV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4224528"/>
            <a:ext cx="8229600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52437" y="7853058"/>
            <a:ext cx="155448" cy="155448"/>
          </a:xfrm>
          <a:prstGeom prst="ellipse">
            <a:avLst/>
          </a:prstGeom>
          <a:solidFill>
            <a:srgbClr val="A7BA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1601" y="7811910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용강동</a:t>
            </a:r>
          </a:p>
        </p:txBody>
      </p:sp>
      <p:sp>
        <p:nvSpPr>
          <p:cNvPr id="48" name="Oval 47"/>
          <p:cNvSpPr/>
          <p:nvPr/>
        </p:nvSpPr>
        <p:spPr>
          <a:xfrm>
            <a:off x="6393278" y="6747941"/>
            <a:ext cx="155448" cy="155448"/>
          </a:xfrm>
          <a:prstGeom prst="ellipse">
            <a:avLst/>
          </a:prstGeom>
          <a:solidFill>
            <a:srgbClr val="A7BA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62442" y="6706793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대흥동</a:t>
            </a:r>
          </a:p>
        </p:txBody>
      </p:sp>
      <p:sp>
        <p:nvSpPr>
          <p:cNvPr id="50" name="Oval 49"/>
          <p:cNvSpPr/>
          <p:nvPr/>
        </p:nvSpPr>
        <p:spPr>
          <a:xfrm>
            <a:off x="5865042" y="7419003"/>
            <a:ext cx="155448" cy="155448"/>
          </a:xfrm>
          <a:prstGeom prst="ellipse">
            <a:avLst/>
          </a:prstGeom>
          <a:solidFill>
            <a:srgbClr val="A7BA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4206" y="7377855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신수동</a:t>
            </a:r>
          </a:p>
        </p:txBody>
      </p:sp>
      <p:sp>
        <p:nvSpPr>
          <p:cNvPr id="52" name="Oval 51"/>
          <p:cNvSpPr/>
          <p:nvPr/>
        </p:nvSpPr>
        <p:spPr>
          <a:xfrm>
            <a:off x="4768050" y="6462829"/>
            <a:ext cx="155448" cy="155448"/>
          </a:xfrm>
          <a:prstGeom prst="ellipse">
            <a:avLst/>
          </a:prstGeom>
          <a:solidFill>
            <a:srgbClr val="A7BA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37214" y="6421681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서교동</a:t>
            </a:r>
          </a:p>
        </p:txBody>
      </p:sp>
      <p:sp>
        <p:nvSpPr>
          <p:cNvPr id="54" name="Oval 53"/>
          <p:cNvSpPr/>
          <p:nvPr/>
        </p:nvSpPr>
        <p:spPr>
          <a:xfrm>
            <a:off x="3819548" y="7281530"/>
            <a:ext cx="155448" cy="155448"/>
          </a:xfrm>
          <a:prstGeom prst="ellipse">
            <a:avLst/>
          </a:prstGeom>
          <a:solidFill>
            <a:srgbClr val="A7BA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88712" y="7240382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합정동</a:t>
            </a:r>
          </a:p>
        </p:txBody>
      </p:sp>
      <p:sp>
        <p:nvSpPr>
          <p:cNvPr id="56" name="Oval 55"/>
          <p:cNvSpPr/>
          <p:nvPr/>
        </p:nvSpPr>
        <p:spPr>
          <a:xfrm>
            <a:off x="3090721" y="6581484"/>
            <a:ext cx="155448" cy="155448"/>
          </a:xfrm>
          <a:prstGeom prst="ellipse">
            <a:avLst/>
          </a:prstGeom>
          <a:solidFill>
            <a:srgbClr val="A7BA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59885" y="6540336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망원1동</a:t>
            </a:r>
          </a:p>
        </p:txBody>
      </p:sp>
      <p:sp>
        <p:nvSpPr>
          <p:cNvPr id="58" name="Oval 57"/>
          <p:cNvSpPr/>
          <p:nvPr/>
        </p:nvSpPr>
        <p:spPr>
          <a:xfrm>
            <a:off x="3124351" y="6016889"/>
            <a:ext cx="155448" cy="155448"/>
          </a:xfrm>
          <a:prstGeom prst="ellipse">
            <a:avLst/>
          </a:prstGeom>
          <a:solidFill>
            <a:srgbClr val="A7BA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93515" y="5975741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망원2동</a:t>
            </a:r>
          </a:p>
        </p:txBody>
      </p:sp>
      <p:sp>
        <p:nvSpPr>
          <p:cNvPr id="60" name="Oval 59"/>
          <p:cNvSpPr/>
          <p:nvPr/>
        </p:nvSpPr>
        <p:spPr>
          <a:xfrm>
            <a:off x="4815522" y="5593058"/>
            <a:ext cx="155448" cy="155448"/>
          </a:xfrm>
          <a:prstGeom prst="ellipse">
            <a:avLst/>
          </a:prstGeom>
          <a:solidFill>
            <a:srgbClr val="A7BA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84686" y="5551910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연남동</a:t>
            </a:r>
          </a:p>
        </p:txBody>
      </p:sp>
      <p:sp>
        <p:nvSpPr>
          <p:cNvPr id="62" name="Oval 61"/>
          <p:cNvSpPr/>
          <p:nvPr/>
        </p:nvSpPr>
        <p:spPr>
          <a:xfrm>
            <a:off x="4048220" y="5699901"/>
            <a:ext cx="155448" cy="155448"/>
          </a:xfrm>
          <a:prstGeom prst="ellipse">
            <a:avLst/>
          </a:prstGeom>
          <a:solidFill>
            <a:srgbClr val="A7BA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17384" y="5658753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성산1동</a:t>
            </a:r>
          </a:p>
        </p:txBody>
      </p:sp>
      <p:sp>
        <p:nvSpPr>
          <p:cNvPr id="64" name="Oval 63"/>
          <p:cNvSpPr/>
          <p:nvPr/>
        </p:nvSpPr>
        <p:spPr>
          <a:xfrm>
            <a:off x="3266161" y="5034507"/>
            <a:ext cx="155448" cy="155448"/>
          </a:xfrm>
          <a:prstGeom prst="ellipse">
            <a:avLst/>
          </a:prstGeom>
          <a:solidFill>
            <a:srgbClr val="A7BA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35325" y="4993359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성산2동</a:t>
            </a:r>
          </a:p>
        </p:txBody>
      </p:sp>
      <p:sp>
        <p:nvSpPr>
          <p:cNvPr id="66" name="Oval 65"/>
          <p:cNvSpPr/>
          <p:nvPr/>
        </p:nvSpPr>
        <p:spPr>
          <a:xfrm>
            <a:off x="1519124" y="4782352"/>
            <a:ext cx="155448" cy="155448"/>
          </a:xfrm>
          <a:prstGeom prst="ellipse">
            <a:avLst/>
          </a:prstGeom>
          <a:solidFill>
            <a:srgbClr val="A7BA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688288" y="4741204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상암동</a:t>
            </a:r>
          </a:p>
        </p:txBody>
      </p:sp>
      <p:sp>
        <p:nvSpPr>
          <p:cNvPr id="68" name="Oval 67"/>
          <p:cNvSpPr/>
          <p:nvPr/>
        </p:nvSpPr>
        <p:spPr>
          <a:xfrm>
            <a:off x="6998369" y="8156407"/>
            <a:ext cx="155448" cy="155448"/>
          </a:xfrm>
          <a:prstGeom prst="ellipse">
            <a:avLst/>
          </a:prstGeom>
          <a:solidFill>
            <a:srgbClr val="A7BA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67533" y="8115259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도화동</a:t>
            </a:r>
          </a:p>
        </p:txBody>
      </p:sp>
      <p:sp>
        <p:nvSpPr>
          <p:cNvPr id="70" name="Oval 69"/>
          <p:cNvSpPr/>
          <p:nvPr/>
        </p:nvSpPr>
        <p:spPr>
          <a:xfrm>
            <a:off x="5171347" y="7306071"/>
            <a:ext cx="155448" cy="155448"/>
          </a:xfrm>
          <a:prstGeom prst="ellipse">
            <a:avLst/>
          </a:prstGeom>
          <a:solidFill>
            <a:srgbClr val="A7BA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40511" y="7264923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서강동</a:t>
            </a:r>
          </a:p>
        </p:txBody>
      </p:sp>
      <p:sp>
        <p:nvSpPr>
          <p:cNvPr id="72" name="Oval 71"/>
          <p:cNvSpPr/>
          <p:nvPr/>
        </p:nvSpPr>
        <p:spPr>
          <a:xfrm>
            <a:off x="7698027" y="7033923"/>
            <a:ext cx="155448" cy="155448"/>
          </a:xfrm>
          <a:prstGeom prst="ellipse">
            <a:avLst/>
          </a:prstGeom>
          <a:solidFill>
            <a:srgbClr val="A7BA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867191" y="6992775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공덕동</a:t>
            </a:r>
          </a:p>
        </p:txBody>
      </p:sp>
      <p:sp>
        <p:nvSpPr>
          <p:cNvPr id="74" name="Oval 73"/>
          <p:cNvSpPr/>
          <p:nvPr/>
        </p:nvSpPr>
        <p:spPr>
          <a:xfrm>
            <a:off x="7283225" y="6767445"/>
            <a:ext cx="155448" cy="155448"/>
          </a:xfrm>
          <a:prstGeom prst="ellipse">
            <a:avLst/>
          </a:prstGeom>
          <a:solidFill>
            <a:srgbClr val="A7BA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52389" y="6726297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아현동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63440" y="881481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 u="none">
                <a:solidFill>
                  <a:srgbClr val="63738B"/>
                </a:solidFill>
                <a:latin typeface="Noto Sans CJK KR"/>
                <a:ea typeface="Noto Sans CJK KR"/>
              </a:rPr>
              <a:t>경도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" y="431596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 u="none">
                <a:solidFill>
                  <a:srgbClr val="63738B"/>
                </a:solidFill>
                <a:latin typeface="Noto Sans CJK KR"/>
                <a:ea typeface="Noto Sans CJK KR"/>
              </a:rPr>
              <a:t>위도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960" y="9235440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760" b="1" i="0" u="none">
                <a:solidFill>
                  <a:srgbClr val="17253D"/>
                </a:solidFill>
                <a:latin typeface="Noto Sans CJK KR"/>
                <a:ea typeface="Noto Sans CJK KR"/>
              </a:rPr>
              <a:t>Fig.2. 실제 비교 가능한 마포구 15개 행정동.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55480" y="4178808"/>
            <a:ext cx="1920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공간키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448288" y="4178808"/>
            <a:ext cx="6080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서울시 11440… ↔ View-T 11140…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접두사를 일괄 치환하지 않고 고유 동 명칭을 대조.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9555480" y="5257800"/>
            <a:ext cx="7909560" cy="0"/>
          </a:xfrm>
          <a:prstGeom prst="line">
            <a:avLst/>
          </a:prstGeom>
          <a:ln w="15240">
            <a:solidFill>
              <a:srgbClr val="CDD4DF"/>
            </a:solidFill>
          </a:ln>
          <a:effectLst/>
        </p:spPr>
      </p:cxnSp>
      <p:sp>
        <p:nvSpPr>
          <p:cNvPr id="82" name="TextBox 81"/>
          <p:cNvSpPr txBox="1"/>
          <p:nvPr/>
        </p:nvSpPr>
        <p:spPr>
          <a:xfrm>
            <a:off x="9555480" y="5477256"/>
            <a:ext cx="1920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도로 지원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448288" y="5477256"/>
            <a:ext cx="6080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408개 링크의 기관 동 코드·길이를 검증.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웹 지도 경계로 임의 배분한 공식 통계가 아님.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9555480" y="6556248"/>
            <a:ext cx="7909560" cy="0"/>
          </a:xfrm>
          <a:prstGeom prst="line">
            <a:avLst/>
          </a:prstGeom>
          <a:ln w="15240">
            <a:solidFill>
              <a:srgbClr val="CDD4DF"/>
            </a:solidFill>
          </a:ln>
          <a:effectLst/>
        </p:spPr>
      </p:cxnSp>
      <p:sp>
        <p:nvSpPr>
          <p:cNvPr id="85" name="TextBox 84"/>
          <p:cNvSpPr txBox="1"/>
          <p:nvPr/>
        </p:nvSpPr>
        <p:spPr>
          <a:xfrm>
            <a:off x="9555480" y="6775704"/>
            <a:ext cx="1920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점포 산식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448288" y="6775704"/>
            <a:ext cx="6080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전체 점포 = 일반 점포 + 프랜차이즈 확인.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전체 점포를 다시 더해 중복 계산하지 않음.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9555480" y="7854696"/>
            <a:ext cx="7909560" cy="0"/>
          </a:xfrm>
          <a:prstGeom prst="line">
            <a:avLst/>
          </a:prstGeom>
          <a:ln w="15240">
            <a:solidFill>
              <a:srgbClr val="CDD4DF"/>
            </a:solidFill>
          </a:ln>
          <a:effectLst/>
        </p:spPr>
      </p:cxnSp>
      <p:sp>
        <p:nvSpPr>
          <p:cNvPr id="88" name="TextBox 87"/>
          <p:cNvSpPr txBox="1"/>
          <p:nvPr/>
        </p:nvSpPr>
        <p:spPr>
          <a:xfrm>
            <a:off x="9555480" y="8074152"/>
            <a:ext cx="19202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시간 정의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448288" y="8074152"/>
            <a:ext cx="6080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인구 월~금과 도로 평일 정의가 불명확하여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인구는 이번 축소형 점수에 투입하지 않음.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9555480" y="9153144"/>
            <a:ext cx="7909560" cy="0"/>
          </a:xfrm>
          <a:prstGeom prst="line">
            <a:avLst/>
          </a:prstGeom>
          <a:ln w="15240">
            <a:solidFill>
              <a:srgbClr val="CDD4DF"/>
            </a:solidFill>
          </a:ln>
          <a:effectLst/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520000">
            <a:off x="-1508760" y="-1463040"/>
            <a:ext cx="3749039" cy="306324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7099280" y="-96012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508760" y="946404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580000">
            <a:off x="16596359" y="9372600"/>
            <a:ext cx="2880360" cy="242316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5590520" y="530352"/>
            <a:ext cx="2029968" cy="0"/>
          </a:xfrm>
          <a:prstGeom prst="line">
            <a:avLst/>
          </a:prstGeom>
          <a:ln w="20320">
            <a:solidFill>
              <a:srgbClr val="404040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18031968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7999829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7922240" y="649224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H="1">
            <a:off x="17760595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H="1">
            <a:off x="17693640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H="1" flipV="1">
            <a:off x="17760595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7922240" y="310896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 flipV="1">
            <a:off x="17999829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384048" y="10040112"/>
            <a:ext cx="17492472" cy="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30352" y="100766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404040"/>
                </a:solidFill>
                <a:latin typeface="Noto Sans CJK KR"/>
                <a:ea typeface="Noto Sans CJK KR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0067544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TRANSIT OOH  ·  PUBLIC-DATA DECISION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1006754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06 /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74904"/>
            <a:ext cx="160020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위치가치 점수와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1161288"/>
            <a:ext cx="16002000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FF6F40"/>
                </a:solidFill>
                <a:latin typeface="Noto Sans CJK KR"/>
                <a:ea typeface="Noto Sans CJK KR"/>
              </a:rPr>
              <a:t>비교 모델.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185416"/>
            <a:ext cx="1554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Location-Value Scores &amp; Baseline Models.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0" y="2578608"/>
            <a:ext cx="6766560" cy="0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744200" y="941832"/>
            <a:ext cx="0" cy="347472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sp>
        <p:nvSpPr>
          <p:cNvPr id="24" name="Trapezoid 23"/>
          <p:cNvSpPr/>
          <p:nvPr/>
        </p:nvSpPr>
        <p:spPr>
          <a:xfrm>
            <a:off x="10607040" y="1271016"/>
            <a:ext cx="274320" cy="237744"/>
          </a:xfrm>
          <a:prstGeom prst="trapezoid">
            <a:avLst/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24160" y="1472184"/>
            <a:ext cx="640080" cy="640080"/>
          </a:xfrm>
          <a:prstGeom prst="ellipse">
            <a:avLst/>
          </a:prstGeom>
          <a:solidFill>
            <a:srgbClr val="FFDD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0680192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H="1">
            <a:off x="10808208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10689336" y="1874519"/>
            <a:ext cx="118872" cy="0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612648" y="2761488"/>
            <a:ext cx="168706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• 두 성분을 같은 후보군에서 정규화하고, 차량 맥락의 비중 α를 사용자가 조정한다.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9665208"/>
            <a:ext cx="1673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40" b="0" i="1" u="none">
                <a:solidFill>
                  <a:srgbClr val="63738B"/>
                </a:solidFill>
                <a:latin typeface="Noto Sans CJK KR"/>
                <a:ea typeface="Noto Sans CJK KR"/>
              </a:rPr>
              <a:t>A는 보고 점포 재고, B는 보유 일반도로의 길이 가중 차량 맥락. 기존 전체 Spatial/GPS Mobility와 구분. [D1,D3]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" y="3456432"/>
            <a:ext cx="16660367" cy="93268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3639312"/>
            <a:ext cx="1613915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33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위치가치  C(i, α) = (1−α) × 공간 A(i) + α × 이동 B(i)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" y="4846320"/>
            <a:ext cx="16660367" cy="777240"/>
          </a:xfrm>
          <a:prstGeom prst="rect">
            <a:avLst/>
          </a:prstGeom>
          <a:solidFill>
            <a:srgbClr val="1725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86384" y="5623559"/>
            <a:ext cx="16660368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905256" y="4946904"/>
            <a:ext cx="410565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모델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129784" y="4846320"/>
            <a:ext cx="0" cy="777239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5248656" y="4946904"/>
            <a:ext cx="12079224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같은 K개 지역을 고르는 기준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" y="5623559"/>
            <a:ext cx="16660367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786384" y="6400799"/>
            <a:ext cx="16660368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905256" y="5724144"/>
            <a:ext cx="410565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A · 상권 단독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129784" y="5623559"/>
            <a:ext cx="0" cy="777240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5248656" y="5724144"/>
            <a:ext cx="12079224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2024년 보고 전체 점포 재고의 분기 평균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" y="6400800"/>
            <a:ext cx="16660367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786384" y="7178040"/>
            <a:ext cx="16660368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905256" y="6501384"/>
            <a:ext cx="410565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B · 교통 단독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129784" y="6400800"/>
            <a:ext cx="0" cy="777240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5248656" y="6501384"/>
            <a:ext cx="12079224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일반도로 링크의 길이 가중 차량 교통 맥락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6384" y="7178040"/>
            <a:ext cx="16660367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786384" y="7955279"/>
            <a:ext cx="16660368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905256" y="7278624"/>
            <a:ext cx="410565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C50 / C60 · 고정 비중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129784" y="7178040"/>
            <a:ext cx="0" cy="777239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5248656" y="7278624"/>
            <a:ext cx="12079224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α=.5 / .6에서 점수가 높은 K개 지역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6384" y="7955279"/>
            <a:ext cx="16660367" cy="777240"/>
          </a:xfrm>
          <a:prstGeom prst="rect">
            <a:avLst/>
          </a:prstGeom>
          <a:solidFill>
            <a:srgbClr val="E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786384" y="8732519"/>
            <a:ext cx="16660368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905256" y="8055863"/>
            <a:ext cx="410565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R · 강건 선택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129784" y="7955279"/>
            <a:ext cx="0" cy="777240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5248656" y="8055863"/>
            <a:ext cx="12079224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여러 조건에서 최악 선택 손실이 최소인 K개 집합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8988552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 u="none">
                <a:solidFill>
                  <a:srgbClr val="FF6F40"/>
                </a:solidFill>
                <a:latin typeface="Noto Sans CJK KR"/>
                <a:ea typeface="Noto Sans CJK KR"/>
              </a:rPr>
              <a:t>초기 가정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63240" y="9034272"/>
            <a:ext cx="14173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50:50과 60:40은 검증된 최적 비중이 아니다. 대시보드에서 0~100%를 바꿔 본다.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520000">
            <a:off x="-1508760" y="-1463040"/>
            <a:ext cx="3749039" cy="306324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7099280" y="-96012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508760" y="946404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580000">
            <a:off x="16596359" y="9372600"/>
            <a:ext cx="2880360" cy="242316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5590520" y="530352"/>
            <a:ext cx="2029968" cy="0"/>
          </a:xfrm>
          <a:prstGeom prst="line">
            <a:avLst/>
          </a:prstGeom>
          <a:ln w="20320">
            <a:solidFill>
              <a:srgbClr val="404040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18031968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7999829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7922240" y="649224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H="1">
            <a:off x="17760595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H="1">
            <a:off x="17693640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H="1" flipV="1">
            <a:off x="17760595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7922240" y="310896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 flipV="1">
            <a:off x="17999829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384048" y="10040112"/>
            <a:ext cx="17492472" cy="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30352" y="100766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404040"/>
                </a:solidFill>
                <a:latin typeface="Noto Sans CJK KR"/>
                <a:ea typeface="Noto Sans CJK KR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0067544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TRANSIT OOH  ·  PUBLIC-DATA DECISION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1006754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07 /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74904"/>
            <a:ext cx="160020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제안 모델의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1161288"/>
            <a:ext cx="16002000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FF6F40"/>
                </a:solidFill>
                <a:latin typeface="Noto Sans CJK KR"/>
                <a:ea typeface="Noto Sans CJK KR"/>
              </a:rPr>
              <a:t>수리 정의.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185416"/>
            <a:ext cx="1554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Mathematical Modeling · Minimax Regret.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0" y="2578608"/>
            <a:ext cx="6766560" cy="0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744200" y="941832"/>
            <a:ext cx="0" cy="347472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sp>
        <p:nvSpPr>
          <p:cNvPr id="24" name="Trapezoid 23"/>
          <p:cNvSpPr/>
          <p:nvPr/>
        </p:nvSpPr>
        <p:spPr>
          <a:xfrm>
            <a:off x="10607040" y="1271016"/>
            <a:ext cx="274320" cy="237744"/>
          </a:xfrm>
          <a:prstGeom prst="trapezoid">
            <a:avLst/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24160" y="1472184"/>
            <a:ext cx="640080" cy="640080"/>
          </a:xfrm>
          <a:prstGeom prst="ellipse">
            <a:avLst/>
          </a:prstGeom>
          <a:solidFill>
            <a:srgbClr val="FFDD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0680192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H="1">
            <a:off x="10808208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10689336" y="1874519"/>
            <a:ext cx="118872" cy="0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612648" y="2761488"/>
            <a:ext cx="168706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• 각 조건의 최선 집합과 비교한 후회를 정의하고, 가장 큰 후회가 최소인 집합을 선택한다.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9665208"/>
            <a:ext cx="1673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40" b="0" i="1" u="none">
                <a:solidFill>
                  <a:srgbClr val="63738B"/>
                </a:solidFill>
                <a:latin typeface="Noto Sans CJK KR"/>
                <a:ea typeface="Noto Sans CJK KR"/>
              </a:rPr>
              <a:t>최악후회 최소화는 기존 의사결정 방법이다. 이번 기여는 공개자료의 실제 적용·검증·시스템 구현에 있다. [R1,R2]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3383280"/>
            <a:ext cx="3794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42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15개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" y="4133088"/>
            <a:ext cx="3749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950" b="0" i="0" u="none">
                <a:solidFill>
                  <a:srgbClr val="63738B"/>
                </a:solidFill>
                <a:latin typeface="Noto Sans CJK KR"/>
                <a:ea typeface="Noto Sans CJK KR"/>
              </a:rPr>
              <a:t>비교 가능한 후보 행정동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2960" y="4626864"/>
            <a:ext cx="3703320" cy="0"/>
          </a:xfrm>
          <a:prstGeom prst="line">
            <a:avLst/>
          </a:prstGeom>
          <a:ln w="15240">
            <a:solidFill>
              <a:srgbClr val="CDD4DF"/>
            </a:solidFill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804672" y="4800600"/>
            <a:ext cx="3794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42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5곳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" y="5550408"/>
            <a:ext cx="3749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950" b="0" i="0" u="none">
                <a:solidFill>
                  <a:srgbClr val="63738B"/>
                </a:solidFill>
                <a:latin typeface="Noto Sans CJK KR"/>
                <a:ea typeface="Noto Sans CJK KR"/>
              </a:rPr>
              <a:t>주 분석에서 선택할 지역 수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2960" y="6044184"/>
            <a:ext cx="3703320" cy="0"/>
          </a:xfrm>
          <a:prstGeom prst="line">
            <a:avLst/>
          </a:prstGeom>
          <a:ln w="15240">
            <a:solidFill>
              <a:srgbClr val="CDD4DF"/>
            </a:solidFill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804672" y="6217920"/>
            <a:ext cx="3794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42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120행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" y="6967728"/>
            <a:ext cx="3749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950" b="0" i="0" u="none">
                <a:solidFill>
                  <a:srgbClr val="63738B"/>
                </a:solidFill>
                <a:latin typeface="Noto Sans CJK KR"/>
                <a:ea typeface="Noto Sans CJK KR"/>
              </a:rPr>
              <a:t>정해 둔 조건의 끝점 설계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22960" y="7461504"/>
            <a:ext cx="3703320" cy="0"/>
          </a:xfrm>
          <a:prstGeom prst="line">
            <a:avLst/>
          </a:prstGeom>
          <a:ln w="15240">
            <a:solidFill>
              <a:srgbClr val="CDD4DF"/>
            </a:solidFill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804672" y="7635240"/>
            <a:ext cx="3794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42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3,003개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" y="8385048"/>
            <a:ext cx="3749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950" b="0" i="0" u="none">
                <a:solidFill>
                  <a:srgbClr val="63738B"/>
                </a:solidFill>
                <a:latin typeface="Noto Sans CJK KR"/>
                <a:ea typeface="Noto Sans CJK KR"/>
              </a:rPr>
              <a:t>K=5 후보 조합의 완전 탐색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22960" y="8878824"/>
            <a:ext cx="3703320" cy="0"/>
          </a:xfrm>
          <a:prstGeom prst="line">
            <a:avLst/>
          </a:prstGeom>
          <a:ln w="15240">
            <a:solidFill>
              <a:srgbClr val="CDD4DF"/>
            </a:solidFill>
          </a:ln>
          <a:effectLst/>
        </p:spPr>
      </p:cxnSp>
      <p:sp>
        <p:nvSpPr>
          <p:cNvPr id="43" name="Rectangle 42"/>
          <p:cNvSpPr/>
          <p:nvPr/>
        </p:nvSpPr>
        <p:spPr>
          <a:xfrm>
            <a:off x="5029200" y="3438144"/>
            <a:ext cx="12362688" cy="542239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30952" y="3703320"/>
            <a:ext cx="117500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기호  x(i): 후보 i 선택 여부 · v(i,s): 조건 s의 정규화 점수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0952" y="4352544"/>
            <a:ext cx="1175004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63738B"/>
                </a:solidFill>
                <a:latin typeface="Noto Sans CJK KR"/>
                <a:ea typeface="Noto Sans CJK KR"/>
              </a:rPr>
              <a:t>U*(s): 조건 s를 미리 알았을 때 최선 K개 집합의 평균 점수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340096" y="5010912"/>
            <a:ext cx="11740896" cy="0"/>
          </a:xfrm>
          <a:prstGeom prst="line">
            <a:avLst/>
          </a:prstGeom>
          <a:ln w="15240">
            <a:solidFill>
              <a:srgbClr val="CDD4DF"/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5349240" y="5330952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목적함수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54696" y="5248656"/>
            <a:ext cx="9006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35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minimize  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9240" y="6327648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제약식</a:t>
            </a:r>
          </a:p>
        </p:txBody>
      </p:sp>
      <p:pic>
        <p:nvPicPr>
          <p:cNvPr id="50" name="Picture 49" descr="math_constrain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200" y="5943600"/>
            <a:ext cx="4375831" cy="914400"/>
          </a:xfrm>
          <a:prstGeom prst="rect">
            <a:avLst/>
          </a:prstGeom>
        </p:spPr>
      </p:pic>
      <p:pic>
        <p:nvPicPr>
          <p:cNvPr id="51" name="Picture 50" descr="math_constrain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0200" y="6812280"/>
            <a:ext cx="4375831" cy="914400"/>
          </a:xfrm>
          <a:prstGeom prst="rect">
            <a:avLst/>
          </a:prstGeom>
        </p:spPr>
      </p:pic>
      <p:pic>
        <p:nvPicPr>
          <p:cNvPr id="52" name="Picture 51" descr="math_constraint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0200" y="7680960"/>
            <a:ext cx="4375831" cy="9144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349240" y="8430768"/>
            <a:ext cx="11704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0" i="0" u="none">
                <a:solidFill>
                  <a:srgbClr val="63738B"/>
                </a:solidFill>
                <a:latin typeface="Noto Sans CJK KR"/>
                <a:ea typeface="Noto Sans CJK KR"/>
              </a:rPr>
              <a:t>r: 최악후회의 상한 · s: 자료 표현과 가중치 끝점의 조합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30368" y="9089136"/>
            <a:ext cx="119786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80" b="1" i="0" u="none">
                <a:solidFill>
                  <a:srgbClr val="0E9384"/>
                </a:solidFill>
                <a:latin typeface="Noto Sans CJK KR"/>
                <a:ea typeface="Noto Sans CJK KR"/>
              </a:rPr>
              <a:t>가중치에 대한 후회는 볼록 → 구간 양 끝으로 연속 범위의 최악값을 확인.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520000">
            <a:off x="-1508760" y="-1463040"/>
            <a:ext cx="3749039" cy="306324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7099280" y="-96012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508760" y="946404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580000">
            <a:off x="16596359" y="9372600"/>
            <a:ext cx="2880360" cy="242316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5590520" y="530352"/>
            <a:ext cx="2029968" cy="0"/>
          </a:xfrm>
          <a:prstGeom prst="line">
            <a:avLst/>
          </a:prstGeom>
          <a:ln w="20320">
            <a:solidFill>
              <a:srgbClr val="404040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18031968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7999829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7922240" y="649224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H="1">
            <a:off x="17760595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H="1">
            <a:off x="17693640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H="1" flipV="1">
            <a:off x="17760595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7922240" y="310896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 flipV="1">
            <a:off x="17999829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384048" y="10040112"/>
            <a:ext cx="17492472" cy="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30352" y="100766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404040"/>
                </a:solidFill>
                <a:latin typeface="Noto Sans CJK KR"/>
                <a:ea typeface="Noto Sans CJK KR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0067544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TRANSIT OOH  ·  PUBLIC-DATA DECISION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1006754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08 /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74904"/>
            <a:ext cx="160020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비교 실험 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1161288"/>
            <a:ext cx="16002000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FF6F40"/>
                </a:solidFill>
                <a:latin typeface="Noto Sans CJK KR"/>
                <a:ea typeface="Noto Sans CJK KR"/>
              </a:rPr>
              <a:t>검증 설계.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185416"/>
            <a:ext cx="1554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Experimental Design &amp; Validation.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0" y="2578608"/>
            <a:ext cx="6766560" cy="0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744200" y="941832"/>
            <a:ext cx="0" cy="347472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sp>
        <p:nvSpPr>
          <p:cNvPr id="24" name="Trapezoid 23"/>
          <p:cNvSpPr/>
          <p:nvPr/>
        </p:nvSpPr>
        <p:spPr>
          <a:xfrm>
            <a:off x="10607040" y="1271016"/>
            <a:ext cx="274320" cy="237744"/>
          </a:xfrm>
          <a:prstGeom prst="trapezoid">
            <a:avLst/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24160" y="1472184"/>
            <a:ext cx="640080" cy="640080"/>
          </a:xfrm>
          <a:prstGeom prst="ellipse">
            <a:avLst/>
          </a:prstGeom>
          <a:solidFill>
            <a:srgbClr val="FFDD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0680192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H="1">
            <a:off x="10808208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10689336" y="1874519"/>
            <a:ext cx="118872" cy="0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612648" y="2761488"/>
            <a:ext cx="168706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• 같은 조건에서의 최적화, 조건을 제외한 재평가, 외부 상권 맥락을 구분한다.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474720"/>
            <a:ext cx="16660368" cy="822960"/>
          </a:xfrm>
          <a:prstGeom prst="rect">
            <a:avLst/>
          </a:prstGeom>
          <a:solidFill>
            <a:srgbClr val="1725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777240" y="4297680"/>
            <a:ext cx="16660368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896112" y="3575303"/>
            <a:ext cx="328269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검사 단계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297680" y="3474720"/>
            <a:ext cx="0" cy="822960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4416552" y="3575303"/>
            <a:ext cx="773582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실행 방법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2271248" y="3474720"/>
            <a:ext cx="0" cy="822960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12390120" y="3575303"/>
            <a:ext cx="492861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해석 범위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297680"/>
            <a:ext cx="16660368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777240" y="5120640"/>
            <a:ext cx="16660368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896112" y="4398264"/>
            <a:ext cx="328269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동일 조건 비교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297680" y="4297680"/>
            <a:ext cx="0" cy="822960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4416552" y="4398264"/>
            <a:ext cx="773582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A / B / C50 / C60 / R · 같은 후보와 K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2271248" y="4297680"/>
            <a:ext cx="0" cy="822960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12390120" y="4398264"/>
            <a:ext cx="492861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설계한 목적함수의 조건부 결과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20640"/>
            <a:ext cx="16660368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777240" y="5943600"/>
            <a:ext cx="16660368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896112" y="5221224"/>
            <a:ext cx="328269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제외 분기 검사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297680" y="5120640"/>
            <a:ext cx="0" cy="822960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4416552" y="5221224"/>
            <a:ext cx="773582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4개 분기를 하나씩 제외 · 연평균도 제거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2271248" y="5120640"/>
            <a:ext cx="0" cy="822960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12390120" y="5221224"/>
            <a:ext cx="492861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같은 지역의 자료 명세에 대한 견고함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" y="5943600"/>
            <a:ext cx="16660368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777240" y="6766560"/>
            <a:ext cx="16660368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896112" y="6044184"/>
            <a:ext cx="328269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제외 정의 검사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297680" y="5943600"/>
            <a:ext cx="0" cy="822960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4416552" y="6044184"/>
            <a:ext cx="773582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도로 표현 4종 · 정규화 3종을 각각 제외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2271248" y="5943600"/>
            <a:ext cx="0" cy="822960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12390120" y="6044184"/>
            <a:ext cx="492861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학습에서 쓰지 않은 표현으로 재평가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7240" y="6766560"/>
            <a:ext cx="16660368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777240" y="7589520"/>
            <a:ext cx="16660368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896112" y="6867144"/>
            <a:ext cx="328269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외부 맥락 확인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297680" y="6766560"/>
            <a:ext cx="0" cy="822960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4416552" y="6867144"/>
            <a:ext cx="773582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2025년 추정 거래 · 모든 분기 공개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2271248" y="6766560"/>
            <a:ext cx="0" cy="822960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64" name="TextBox 63"/>
          <p:cNvSpPr txBox="1"/>
          <p:nvPr/>
        </p:nvSpPr>
        <p:spPr>
          <a:xfrm>
            <a:off x="12390120" y="6867144"/>
            <a:ext cx="492861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예비값 인지 후 회고적·탐색적 비교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7240" y="7589520"/>
            <a:ext cx="16660368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777240" y="8412480"/>
            <a:ext cx="16660368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67" name="TextBox 66"/>
          <p:cNvSpPr txBox="1"/>
          <p:nvPr/>
        </p:nvSpPr>
        <p:spPr>
          <a:xfrm>
            <a:off x="896112" y="7690104"/>
            <a:ext cx="328269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수치 독립 재계산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4297680" y="7589520"/>
            <a:ext cx="0" cy="822960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4416552" y="7690104"/>
            <a:ext cx="773582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별도 표준라이브러리 코드로 전 조합 확인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2271248" y="7589520"/>
            <a:ext cx="0" cy="822960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71" name="TextBox 70"/>
          <p:cNvSpPr txBox="1"/>
          <p:nvPr/>
        </p:nvSpPr>
        <p:spPr>
          <a:xfrm>
            <a:off x="12390120" y="7690104"/>
            <a:ext cx="492861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동일 입력의 계산 일관성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" y="8705088"/>
            <a:ext cx="205740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조건 구성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80360" y="8759952"/>
            <a:ext cx="14218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5개 점포 기준 × 4개 교통 표현 × 3개 정규화 × 가중치 구간 양 끝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2104" y="9363456"/>
            <a:ext cx="1645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60" b="0" i="0" u="none">
                <a:solidFill>
                  <a:srgbClr val="63738B"/>
                </a:solidFill>
                <a:latin typeface="Noto Sans CJK KR"/>
                <a:ea typeface="Noto Sans CJK KR"/>
              </a:rPr>
              <a:t>120개 설계 행은 25개 고유 점수 벡터를 포함한다. 독립 표본 수나 Bootstrap 표본 수가 아니다.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520000">
            <a:off x="-1508760" y="-1463040"/>
            <a:ext cx="3749039" cy="306324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7099280" y="-96012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508760" y="946404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580000">
            <a:off x="16596359" y="9372600"/>
            <a:ext cx="2880360" cy="242316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5590520" y="530352"/>
            <a:ext cx="2029968" cy="0"/>
          </a:xfrm>
          <a:prstGeom prst="line">
            <a:avLst/>
          </a:prstGeom>
          <a:ln w="20320">
            <a:solidFill>
              <a:srgbClr val="404040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18031968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7999829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7922240" y="649224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H="1">
            <a:off x="17760595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H="1">
            <a:off x="17693640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H="1" flipV="1">
            <a:off x="17760595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7922240" y="310896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 flipV="1">
            <a:off x="17999829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384048" y="10040112"/>
            <a:ext cx="17492472" cy="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30352" y="100766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404040"/>
                </a:solidFill>
                <a:latin typeface="Noto Sans CJK KR"/>
                <a:ea typeface="Noto Sans CJK KR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0067544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TRANSIT OOH  ·  PUBLIC-DATA DECISION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1006754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09 /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74904"/>
            <a:ext cx="160020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주요 결과 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1161288"/>
            <a:ext cx="16002000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FF6F40"/>
                </a:solidFill>
                <a:latin typeface="Noto Sans CJK KR"/>
                <a:ea typeface="Noto Sans CJK KR"/>
              </a:rPr>
              <a:t>기준 모델 비교.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185416"/>
            <a:ext cx="1554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Main Results · Fixed Weights vs. Robust Selection.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0" y="2578608"/>
            <a:ext cx="7772400" cy="0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744200" y="941832"/>
            <a:ext cx="0" cy="347472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sp>
        <p:nvSpPr>
          <p:cNvPr id="24" name="Trapezoid 23"/>
          <p:cNvSpPr/>
          <p:nvPr/>
        </p:nvSpPr>
        <p:spPr>
          <a:xfrm>
            <a:off x="10607040" y="1271016"/>
            <a:ext cx="274320" cy="237744"/>
          </a:xfrm>
          <a:prstGeom prst="trapezoid">
            <a:avLst/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24160" y="1472184"/>
            <a:ext cx="640080" cy="640080"/>
          </a:xfrm>
          <a:prstGeom prst="ellipse">
            <a:avLst/>
          </a:prstGeom>
          <a:solidFill>
            <a:srgbClr val="FFDD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0680192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H="1">
            <a:off x="10808208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10689336" y="1874519"/>
            <a:ext cx="118872" cy="0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612648" y="2761488"/>
            <a:ext cx="168706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• K=5, 가중치 0~100%의 정해 둔 조건에서 최악후회와 명목 점수의 교환관계를 확인했다.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9665208"/>
            <a:ext cx="1673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40" b="0" i="1" u="none">
                <a:solidFill>
                  <a:srgbClr val="63738B"/>
                </a:solidFill>
                <a:latin typeface="Noto Sans CJK KR"/>
                <a:ea typeface="Noto Sans CJK KR"/>
              </a:rPr>
              <a:t>후회는 정규화된 선택 효용의 차이이며 광고효과·매출·운영비 개선율을 측정한 값이 아님.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70332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A  상권 단독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22191" y="3758183"/>
            <a:ext cx="4630057" cy="384048"/>
          </a:xfrm>
          <a:prstGeom prst="rect">
            <a:avLst/>
          </a:prstGeom>
          <a:solidFill>
            <a:srgbClr val="3A5B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16841" y="3694176"/>
            <a:ext cx="17830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0.4143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517136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B  교통 단독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22191" y="4571999"/>
            <a:ext cx="4470399" cy="384048"/>
          </a:xfrm>
          <a:prstGeom prst="rect">
            <a:avLst/>
          </a:prstGeom>
          <a:solidFill>
            <a:srgbClr val="9CA5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7184" y="4507992"/>
            <a:ext cx="17830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0.4000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33095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C  50:50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22191" y="5385816"/>
            <a:ext cx="3512457" cy="384048"/>
          </a:xfrm>
          <a:prstGeom prst="rect">
            <a:avLst/>
          </a:prstGeom>
          <a:solidFill>
            <a:srgbClr val="FF6F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9241" y="5321808"/>
            <a:ext cx="17830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0.3143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6144768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C  60:40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22191" y="6199631"/>
            <a:ext cx="3512457" cy="384048"/>
          </a:xfrm>
          <a:prstGeom prst="rect">
            <a:avLst/>
          </a:prstGeom>
          <a:solidFill>
            <a:srgbClr val="FF6F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9241" y="6135624"/>
            <a:ext cx="17830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0.3143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6958583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R  강건 선택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22191" y="7013447"/>
            <a:ext cx="2235199" cy="384048"/>
          </a:xfrm>
          <a:prstGeom prst="rect">
            <a:avLst/>
          </a:prstGeom>
          <a:solidFill>
            <a:srgbClr val="0E93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21983" y="6949440"/>
            <a:ext cx="17830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0.2000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8266175"/>
            <a:ext cx="9144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Fig.3. 모델별 최악후회 · 작을수록 강건.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82528" y="3584448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최악후회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4224528"/>
            <a:ext cx="6080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41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0.3143 → 0.2000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1064240" y="5349240"/>
            <a:ext cx="6227064" cy="0"/>
          </a:xfrm>
          <a:prstGeom prst="line">
            <a:avLst/>
          </a:prstGeom>
          <a:ln w="15240">
            <a:solidFill>
              <a:srgbClr val="CDD4DF"/>
            </a:solidFill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11082528" y="5650992"/>
            <a:ext cx="5989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기본 50:50 평균점수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64240" y="6245352"/>
            <a:ext cx="6080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37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0.4393 → 0.4273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82528" y="7205472"/>
            <a:ext cx="598932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 u="none">
                <a:solidFill>
                  <a:srgbClr val="FF6F40"/>
                </a:solidFill>
                <a:latin typeface="Noto Sans CJK KR"/>
                <a:ea typeface="Noto Sans CJK KR"/>
              </a:rPr>
              <a:t>명목 효용의 차이  0.0120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82528" y="8065008"/>
            <a:ext cx="59893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최악후회가 같은 최적 조합 2개를 모두 공개.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대표 조합은 결과에 맞춰 바꾸지 않고 코드순 선택.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520000">
            <a:off x="-1508760" y="-1463040"/>
            <a:ext cx="3749039" cy="306324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7099280" y="-96012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508760" y="946404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580000">
            <a:off x="16596359" y="9372600"/>
            <a:ext cx="2880360" cy="242316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5590520" y="530352"/>
            <a:ext cx="2029968" cy="0"/>
          </a:xfrm>
          <a:prstGeom prst="line">
            <a:avLst/>
          </a:prstGeom>
          <a:ln w="20320">
            <a:solidFill>
              <a:srgbClr val="404040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18031968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7999829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7922240" y="649224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H="1">
            <a:off x="17760595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H="1">
            <a:off x="17693640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H="1" flipV="1">
            <a:off x="17760595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7922240" y="310896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 flipV="1">
            <a:off x="17999829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384048" y="10040112"/>
            <a:ext cx="17492472" cy="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30352" y="100766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404040"/>
                </a:solidFill>
                <a:latin typeface="Noto Sans CJK KR"/>
                <a:ea typeface="Noto Sans CJK KR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0067544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TRANSIT OOH  ·  PUBLIC-DATA DECISION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1006754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10 /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74904"/>
            <a:ext cx="160020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선택 결과와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1161288"/>
            <a:ext cx="16002000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FF6F40"/>
                </a:solidFill>
                <a:latin typeface="Noto Sans CJK KR"/>
                <a:ea typeface="Noto Sans CJK KR"/>
              </a:rPr>
              <a:t>강건성의 대가.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185416"/>
            <a:ext cx="1554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Selected Regions &amp; Price of Robustness.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0" y="2578608"/>
            <a:ext cx="6766560" cy="0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744200" y="941832"/>
            <a:ext cx="0" cy="347472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sp>
        <p:nvSpPr>
          <p:cNvPr id="24" name="Trapezoid 23"/>
          <p:cNvSpPr/>
          <p:nvPr/>
        </p:nvSpPr>
        <p:spPr>
          <a:xfrm>
            <a:off x="10607040" y="1271016"/>
            <a:ext cx="274320" cy="237744"/>
          </a:xfrm>
          <a:prstGeom prst="trapezoid">
            <a:avLst/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24160" y="1472184"/>
            <a:ext cx="640080" cy="640080"/>
          </a:xfrm>
          <a:prstGeom prst="ellipse">
            <a:avLst/>
          </a:prstGeom>
          <a:solidFill>
            <a:srgbClr val="FFDD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0680192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H="1">
            <a:off x="10808208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10689336" y="1874519"/>
            <a:ext cx="118872" cy="0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612648" y="2761488"/>
            <a:ext cx="168706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• 명목 점수만 최대화하는 선택과, 가정 변화의 위험을 줄이는 선택은 다를 수 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9665208"/>
            <a:ext cx="1673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40" b="0" i="1" u="none">
                <a:solidFill>
                  <a:srgbClr val="63738B"/>
                </a:solidFill>
                <a:latin typeface="Noto Sans CJK KR"/>
                <a:ea typeface="Noto Sans CJK KR"/>
              </a:rPr>
              <a:t>효용–후회 경계는 가능한 3,003개 조합을 비교한 결과다. 비용·수익의 경제적 경계로 해석하지 않는다.</a:t>
            </a:r>
          </a:p>
        </p:txBody>
      </p:sp>
      <p:pic>
        <p:nvPicPr>
          <p:cNvPr id="31" name="Picture 30" descr="pm_portfolio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31" y="3273552"/>
            <a:ext cx="8819192" cy="546811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31520" y="8887968"/>
            <a:ext cx="9144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Fig.4. 기본 점수와 최악후회의 교환관계.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96728" y="3456432"/>
            <a:ext cx="7068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두 최적 조합에 공통인 4개 후보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05872" y="4105656"/>
            <a:ext cx="683971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용강 · 서교 · 합정 · 상암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78440" y="5257800"/>
            <a:ext cx="6858000" cy="749808"/>
          </a:xfrm>
          <a:prstGeom prst="rect">
            <a:avLst/>
          </a:prstGeom>
          <a:solidFill>
            <a:srgbClr val="1725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0378440" y="6007608"/>
            <a:ext cx="6858000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10497312" y="5358384"/>
            <a:ext cx="14081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조합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024360" y="5257800"/>
            <a:ext cx="0" cy="749808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12143232" y="5358384"/>
            <a:ext cx="29626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다섯 번째 후보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5224759" y="5257800"/>
            <a:ext cx="0" cy="749808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15343631" y="5358384"/>
            <a:ext cx="17739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기본 효용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78440" y="6007608"/>
            <a:ext cx="6858000" cy="749808"/>
          </a:xfrm>
          <a:prstGeom prst="rect">
            <a:avLst/>
          </a:prstGeom>
          <a:solidFill>
            <a:srgbClr val="E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0378440" y="6757416"/>
            <a:ext cx="6858000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10497312" y="6108192"/>
            <a:ext cx="14081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R1 · 대표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2024360" y="6007608"/>
            <a:ext cx="0" cy="749808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12143232" y="6108192"/>
            <a:ext cx="29626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망원2동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5224759" y="6007608"/>
            <a:ext cx="0" cy="749808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15343631" y="6108192"/>
            <a:ext cx="17739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0.4273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378440" y="6757416"/>
            <a:ext cx="68580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10378440" y="7507223"/>
            <a:ext cx="6858000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10497312" y="6858000"/>
            <a:ext cx="14081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R2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2024360" y="6757416"/>
            <a:ext cx="0" cy="749807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12143232" y="6858000"/>
            <a:ext cx="29626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성산2동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5224759" y="6757416"/>
            <a:ext cx="0" cy="749807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15343631" y="6858000"/>
            <a:ext cx="17739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0.3824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60" y="7818120"/>
            <a:ext cx="6629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 i="0" u="none">
                <a:solidFill>
                  <a:srgbClr val="FF6F40"/>
                </a:solidFill>
                <a:latin typeface="Noto Sans CJK KR"/>
                <a:ea typeface="Noto Sans CJK KR"/>
              </a:rPr>
              <a:t>두 조합은 최악후회 0.2000에서만 동점.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8522208"/>
            <a:ext cx="662940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R2는 기본 효용이 낮다. 모든 기준에서 동등한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대안으로 설명하지 않는다.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520000">
            <a:off x="-1508760" y="-1463040"/>
            <a:ext cx="3749039" cy="306324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7099280" y="-96012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508760" y="946404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580000">
            <a:off x="16596359" y="9372600"/>
            <a:ext cx="2880360" cy="242316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5590520" y="530352"/>
            <a:ext cx="2029968" cy="0"/>
          </a:xfrm>
          <a:prstGeom prst="line">
            <a:avLst/>
          </a:prstGeom>
          <a:ln w="20320">
            <a:solidFill>
              <a:srgbClr val="404040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18031968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7999829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7922240" y="649224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H="1">
            <a:off x="17760595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H="1">
            <a:off x="17693640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H="1" flipV="1">
            <a:off x="17760595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7922240" y="310896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 flipV="1">
            <a:off x="17999829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384048" y="10040112"/>
            <a:ext cx="17492472" cy="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30352" y="100766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404040"/>
                </a:solidFill>
                <a:latin typeface="Noto Sans CJK KR"/>
                <a:ea typeface="Noto Sans CJK KR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0067544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TRANSIT OOH  ·  PUBLIC-DATA DECISION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1006754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11 /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74904"/>
            <a:ext cx="160020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가중치와 자료 표현의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1161288"/>
            <a:ext cx="16002000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FF6F40"/>
                </a:solidFill>
                <a:latin typeface="Noto Sans CJK KR"/>
                <a:ea typeface="Noto Sans CJK KR"/>
              </a:rPr>
              <a:t>민감도 분석.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185416"/>
            <a:ext cx="1554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Sensitivity &amp; Held-Out Specification Checks.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0" y="2578608"/>
            <a:ext cx="6839712" cy="0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744200" y="941832"/>
            <a:ext cx="0" cy="347472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sp>
        <p:nvSpPr>
          <p:cNvPr id="24" name="Trapezoid 23"/>
          <p:cNvSpPr/>
          <p:nvPr/>
        </p:nvSpPr>
        <p:spPr>
          <a:xfrm>
            <a:off x="10607040" y="1271016"/>
            <a:ext cx="274320" cy="237744"/>
          </a:xfrm>
          <a:prstGeom prst="trapezoid">
            <a:avLst/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24160" y="1472184"/>
            <a:ext cx="640080" cy="640080"/>
          </a:xfrm>
          <a:prstGeom prst="ellipse">
            <a:avLst/>
          </a:prstGeom>
          <a:solidFill>
            <a:srgbClr val="FFDD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0680192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H="1">
            <a:off x="10808208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10689336" y="1874519"/>
            <a:ext cx="118872" cy="0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612648" y="2761488"/>
            <a:ext cx="168706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• K와 가중치 범위를 바꾸고, 선택에 쓰지 않은 분기·도로·정규화 조건에서도 확인했다.</a:t>
            </a:r>
          </a:p>
        </p:txBody>
      </p:sp>
      <p:pic>
        <p:nvPicPr>
          <p:cNvPr id="30" name="Picture 29" descr="pm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045" y="3319272"/>
            <a:ext cx="8465244" cy="524865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6656" y="8714232"/>
            <a:ext cx="9372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80" b="1" i="0" u="none">
                <a:solidFill>
                  <a:srgbClr val="17253D"/>
                </a:solidFill>
                <a:latin typeface="Noto Sans CJK KR"/>
                <a:ea typeface="Noto Sans CJK KR"/>
              </a:rPr>
              <a:t>Fig.5. 후보 수·가중치 범위별 C50과 R의 최악후회.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3493008"/>
            <a:ext cx="6720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선택에 쓰지 않은 분기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4215384"/>
            <a:ext cx="6675120" cy="640080"/>
          </a:xfrm>
          <a:prstGeom prst="rect">
            <a:avLst/>
          </a:prstGeom>
          <a:solidFill>
            <a:srgbClr val="1725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0515600" y="4855464"/>
            <a:ext cx="6675120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10634472" y="4315968"/>
            <a:ext cx="24597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50" b="1" i="0" u="none">
                <a:solidFill>
                  <a:srgbClr val="FFFFFF"/>
                </a:solidFill>
                <a:latin typeface="Noto Sans CJK KR"/>
                <a:ea typeface="Noto Sans CJK KR"/>
              </a:rPr>
              <a:t>제외한 분기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213080" y="4215384"/>
            <a:ext cx="0" cy="640080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13331952" y="4315968"/>
            <a:ext cx="17739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50" b="1" i="0" u="none">
                <a:solidFill>
                  <a:srgbClr val="FFFFFF"/>
                </a:solidFill>
                <a:latin typeface="Noto Sans CJK KR"/>
                <a:ea typeface="Noto Sans CJK KR"/>
              </a:rPr>
              <a:t>C50 후회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5224759" y="4215384"/>
            <a:ext cx="0" cy="640080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15343631" y="4315968"/>
            <a:ext cx="172821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50" b="1" i="0" u="none">
                <a:solidFill>
                  <a:srgbClr val="FFFFFF"/>
                </a:solidFill>
                <a:latin typeface="Noto Sans CJK KR"/>
                <a:ea typeface="Noto Sans CJK KR"/>
              </a:rPr>
              <a:t>R 후회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15600" y="4855464"/>
            <a:ext cx="66751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10515600" y="5495544"/>
            <a:ext cx="6675120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10634472" y="4956048"/>
            <a:ext cx="24597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2024 Q1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3213080" y="4855464"/>
            <a:ext cx="0" cy="640080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13331952" y="4956048"/>
            <a:ext cx="17739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0.3143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5224759" y="4855464"/>
            <a:ext cx="0" cy="640080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15343631" y="4956048"/>
            <a:ext cx="172821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0.2000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515600" y="5495544"/>
            <a:ext cx="66751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10515600" y="6135624"/>
            <a:ext cx="6675120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49" name="TextBox 48"/>
          <p:cNvSpPr txBox="1"/>
          <p:nvPr/>
        </p:nvSpPr>
        <p:spPr>
          <a:xfrm>
            <a:off x="10634472" y="5596128"/>
            <a:ext cx="24597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2024 Q2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3213080" y="5495544"/>
            <a:ext cx="0" cy="640080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13331952" y="5596128"/>
            <a:ext cx="17739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0.3143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5224759" y="5495544"/>
            <a:ext cx="0" cy="640080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15343631" y="5596128"/>
            <a:ext cx="172821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0.2000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15600" y="6135624"/>
            <a:ext cx="66751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0515600" y="6775704"/>
            <a:ext cx="6675120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10634472" y="6236208"/>
            <a:ext cx="24597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2024 Q3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3213080" y="6135624"/>
            <a:ext cx="0" cy="640080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58" name="TextBox 57"/>
          <p:cNvSpPr txBox="1"/>
          <p:nvPr/>
        </p:nvSpPr>
        <p:spPr>
          <a:xfrm>
            <a:off x="13331952" y="6236208"/>
            <a:ext cx="17739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0.3143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5224759" y="6135624"/>
            <a:ext cx="0" cy="640080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15343631" y="6236208"/>
            <a:ext cx="172821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0.2000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515600" y="6775704"/>
            <a:ext cx="6675120" cy="640080"/>
          </a:xfrm>
          <a:prstGeom prst="rect">
            <a:avLst/>
          </a:prstGeom>
          <a:solidFill>
            <a:srgbClr val="E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10515600" y="7415783"/>
            <a:ext cx="6675120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63" name="TextBox 62"/>
          <p:cNvSpPr txBox="1"/>
          <p:nvPr/>
        </p:nvSpPr>
        <p:spPr>
          <a:xfrm>
            <a:off x="10634472" y="6876288"/>
            <a:ext cx="24597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50" b="1" i="0" u="none">
                <a:solidFill>
                  <a:srgbClr val="0E9384"/>
                </a:solidFill>
                <a:latin typeface="Noto Sans CJK KR"/>
                <a:ea typeface="Noto Sans CJK KR"/>
              </a:rPr>
              <a:t>2024 Q4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3213080" y="6775704"/>
            <a:ext cx="0" cy="640079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65" name="TextBox 64"/>
          <p:cNvSpPr txBox="1"/>
          <p:nvPr/>
        </p:nvSpPr>
        <p:spPr>
          <a:xfrm>
            <a:off x="13331952" y="6876288"/>
            <a:ext cx="17739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50" b="1" i="0" u="none">
                <a:solidFill>
                  <a:srgbClr val="0E9384"/>
                </a:solidFill>
                <a:latin typeface="Noto Sans CJK KR"/>
                <a:ea typeface="Noto Sans CJK KR"/>
              </a:rPr>
              <a:t>0.3143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5224759" y="6775704"/>
            <a:ext cx="0" cy="640079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67" name="TextBox 66"/>
          <p:cNvSpPr txBox="1"/>
          <p:nvPr/>
        </p:nvSpPr>
        <p:spPr>
          <a:xfrm>
            <a:off x="15343631" y="6876288"/>
            <a:ext cx="172821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50" b="1" i="0" u="none">
                <a:solidFill>
                  <a:srgbClr val="0E9384"/>
                </a:solidFill>
                <a:latin typeface="Noto Sans CJK KR"/>
                <a:ea typeface="Noto Sans CJK KR"/>
              </a:rPr>
              <a:t>0.2000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61320" y="7644383"/>
            <a:ext cx="664768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도로·정규화 정의 제외 7개 검사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8247888"/>
            <a:ext cx="665683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제외 조건에서 R 최악후회 0.0898~0.2000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1248" y="9372600"/>
            <a:ext cx="16459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FF6F40"/>
                </a:solidFill>
                <a:latin typeface="Noto Sans CJK KR"/>
                <a:ea typeface="Noto Sans CJK KR"/>
              </a:rPr>
              <a:t>K=3의 전체 범위에서는 C50과 R이 같다. 모든 조건에서 개선되는 방식은 아니다.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520000">
            <a:off x="-1508760" y="-1463040"/>
            <a:ext cx="3749039" cy="306324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7099280" y="-96012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508760" y="946404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580000">
            <a:off x="16596359" y="9372600"/>
            <a:ext cx="2880360" cy="242316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5590520" y="530352"/>
            <a:ext cx="2029968" cy="0"/>
          </a:xfrm>
          <a:prstGeom prst="line">
            <a:avLst/>
          </a:prstGeom>
          <a:ln w="20320">
            <a:solidFill>
              <a:srgbClr val="404040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18031968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7999829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7922240" y="649224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H="1">
            <a:off x="17760595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H="1">
            <a:off x="17693640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H="1" flipV="1">
            <a:off x="17760595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7922240" y="310896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 flipV="1">
            <a:off x="17999829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384048" y="10040112"/>
            <a:ext cx="17492472" cy="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30352" y="100766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404040"/>
                </a:solidFill>
                <a:latin typeface="Noto Sans CJK KR"/>
                <a:ea typeface="Noto Sans CJK KR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0067544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TRANSIT OOH  ·  PUBLIC-DATA DECISION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1006754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12 /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74904"/>
            <a:ext cx="160020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외부 상권 지표와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1161288"/>
            <a:ext cx="16002000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FF6F40"/>
                </a:solidFill>
                <a:latin typeface="Noto Sans CJK KR"/>
                <a:ea typeface="Noto Sans CJK KR"/>
              </a:rPr>
              <a:t>결과 해석.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185416"/>
            <a:ext cx="1554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External Commercial Context &amp; Interpretation.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0" y="2578608"/>
            <a:ext cx="6995160" cy="0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744200" y="941832"/>
            <a:ext cx="0" cy="347472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sp>
        <p:nvSpPr>
          <p:cNvPr id="24" name="Trapezoid 23"/>
          <p:cNvSpPr/>
          <p:nvPr/>
        </p:nvSpPr>
        <p:spPr>
          <a:xfrm>
            <a:off x="10607040" y="1271016"/>
            <a:ext cx="274320" cy="237744"/>
          </a:xfrm>
          <a:prstGeom prst="trapezoid">
            <a:avLst/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24160" y="1472184"/>
            <a:ext cx="640080" cy="640080"/>
          </a:xfrm>
          <a:prstGeom prst="ellipse">
            <a:avLst/>
          </a:prstGeom>
          <a:solidFill>
            <a:srgbClr val="FFDD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0680192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H="1">
            <a:off x="10808208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10689336" y="1874519"/>
            <a:ext cx="118872" cy="0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612648" y="2761488"/>
            <a:ext cx="168706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• 2025년 추정 거래와의 관련성을 탐색적으로 확인하고, 불리한 결과도 함께 공개한다.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9665208"/>
            <a:ext cx="1673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40" b="0" i="1" u="none">
                <a:solidFill>
                  <a:srgbClr val="63738B"/>
                </a:solidFill>
                <a:latin typeface="Noto Sans CJK KR"/>
                <a:ea typeface="Noto Sans CJK KR"/>
              </a:rPr>
              <a:t>이전 예비값을 접한 뒤 수행한 회고적 재현이다. 외부 사전등록·전향적 예측·실제 광고성과 검증이 아님. [D2]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474720"/>
            <a:ext cx="8686800" cy="694944"/>
          </a:xfrm>
          <a:prstGeom prst="rect">
            <a:avLst/>
          </a:prstGeom>
          <a:solidFill>
            <a:srgbClr val="1725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777240" y="4169663"/>
            <a:ext cx="8686800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896112" y="3575303"/>
            <a:ext cx="2916936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모델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931920" y="3474720"/>
            <a:ext cx="0" cy="694943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4050791" y="3575303"/>
            <a:ext cx="2962656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Q1 거래 비중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132320" y="3474720"/>
            <a:ext cx="0" cy="694943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7251192" y="3575303"/>
            <a:ext cx="2093976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순위상관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4169663"/>
            <a:ext cx="8686800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777240" y="4864607"/>
            <a:ext cx="8686800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896112" y="4270248"/>
            <a:ext cx="2916936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A  상권 단독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931920" y="4169663"/>
            <a:ext cx="0" cy="694944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4050791" y="4270248"/>
            <a:ext cx="2962656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57.28%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132320" y="4169663"/>
            <a:ext cx="0" cy="694944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7251192" y="4270248"/>
            <a:ext cx="2093976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0.6036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4864608"/>
            <a:ext cx="8686800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777240" y="5559552"/>
            <a:ext cx="8686800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896112" y="4965192"/>
            <a:ext cx="2916936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B  교통 단독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931920" y="4864608"/>
            <a:ext cx="0" cy="694944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49" name="TextBox 48"/>
          <p:cNvSpPr txBox="1"/>
          <p:nvPr/>
        </p:nvSpPr>
        <p:spPr>
          <a:xfrm>
            <a:off x="4050791" y="4965192"/>
            <a:ext cx="2962656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21.01%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132320" y="4864608"/>
            <a:ext cx="0" cy="694944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7251192" y="4965192"/>
            <a:ext cx="2093976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0.0179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" y="5559552"/>
            <a:ext cx="8686800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777240" y="6254496"/>
            <a:ext cx="8686800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896112" y="5660136"/>
            <a:ext cx="2916936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C  50:50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931920" y="5559552"/>
            <a:ext cx="0" cy="694944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4050791" y="5660136"/>
            <a:ext cx="2962656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51.17%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132320" y="5559552"/>
            <a:ext cx="0" cy="694944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58" name="TextBox 57"/>
          <p:cNvSpPr txBox="1"/>
          <p:nvPr/>
        </p:nvSpPr>
        <p:spPr>
          <a:xfrm>
            <a:off x="7251192" y="5660136"/>
            <a:ext cx="2093976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0.3036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" y="6254496"/>
            <a:ext cx="8686800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777240" y="6949440"/>
            <a:ext cx="8686800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61" name="TextBox 60"/>
          <p:cNvSpPr txBox="1"/>
          <p:nvPr/>
        </p:nvSpPr>
        <p:spPr>
          <a:xfrm>
            <a:off x="896112" y="6355080"/>
            <a:ext cx="2916936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C  60:40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931920" y="6254496"/>
            <a:ext cx="0" cy="694944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63" name="TextBox 62"/>
          <p:cNvSpPr txBox="1"/>
          <p:nvPr/>
        </p:nvSpPr>
        <p:spPr>
          <a:xfrm>
            <a:off x="4050791" y="6355080"/>
            <a:ext cx="2962656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51.17%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132320" y="6254496"/>
            <a:ext cx="0" cy="694944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65" name="TextBox 64"/>
          <p:cNvSpPr txBox="1"/>
          <p:nvPr/>
        </p:nvSpPr>
        <p:spPr>
          <a:xfrm>
            <a:off x="7251192" y="6355080"/>
            <a:ext cx="2093976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0.2643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7240" y="6949440"/>
            <a:ext cx="8686800" cy="694944"/>
          </a:xfrm>
          <a:prstGeom prst="rect">
            <a:avLst/>
          </a:prstGeom>
          <a:solidFill>
            <a:srgbClr val="E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777240" y="7644383"/>
            <a:ext cx="8686800" cy="0"/>
          </a:xfrm>
          <a:prstGeom prst="line">
            <a:avLst/>
          </a:prstGeom>
          <a:ln w="10160">
            <a:solidFill>
              <a:srgbClr val="CDD4DF"/>
            </a:solidFill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896112" y="7050024"/>
            <a:ext cx="2916936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R  강건 선택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3931920" y="6949440"/>
            <a:ext cx="0" cy="694943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70" name="TextBox 69"/>
          <p:cNvSpPr txBox="1"/>
          <p:nvPr/>
        </p:nvSpPr>
        <p:spPr>
          <a:xfrm>
            <a:off x="4050791" y="7050024"/>
            <a:ext cx="2962656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60.60%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132320" y="6949440"/>
            <a:ext cx="0" cy="694943"/>
          </a:xfrm>
          <a:prstGeom prst="line">
            <a:avLst/>
          </a:prstGeom>
          <a:ln w="8890">
            <a:solidFill>
              <a:srgbClr val="CDD4DF"/>
            </a:solidFill>
          </a:ln>
          <a:effectLst/>
        </p:spPr>
      </p:cxnSp>
      <p:sp>
        <p:nvSpPr>
          <p:cNvPr id="72" name="TextBox 71"/>
          <p:cNvSpPr txBox="1"/>
          <p:nvPr/>
        </p:nvSpPr>
        <p:spPr>
          <a:xfrm>
            <a:off x="7251192" y="7050024"/>
            <a:ext cx="2093976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집합 선택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1248" y="7872983"/>
            <a:ext cx="848563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980" b="0" i="0" u="none">
                <a:solidFill>
                  <a:srgbClr val="63738B"/>
                </a:solidFill>
                <a:latin typeface="Noto Sans CJK KR"/>
                <a:ea typeface="Noto Sans CJK KR"/>
              </a:rPr>
              <a:t>분모: 비교 가능한 15개 동의 보고 거래 합계.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980" b="0" i="0" u="none">
                <a:solidFill>
                  <a:srgbClr val="63738B"/>
                </a:solidFill>
                <a:latin typeface="Noto Sans CJK KR"/>
                <a:ea typeface="Noto Sans CJK KR"/>
              </a:rPr>
              <a:t>R은 집합을 고르므로 순위상관을 만들지 않는다.</a:t>
            </a:r>
          </a:p>
        </p:txBody>
      </p:sp>
      <p:pic>
        <p:nvPicPr>
          <p:cNvPr id="74" name="Picture 73" descr="pm_external_all_quar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4710" y="3310128"/>
            <a:ext cx="7285419" cy="4517136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738360" y="7973568"/>
            <a:ext cx="7680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780" b="1" i="0" u="none">
                <a:solidFill>
                  <a:srgbClr val="17253D"/>
                </a:solidFill>
                <a:latin typeface="Noto Sans CJK KR"/>
                <a:ea typeface="Noto Sans CJK KR"/>
              </a:rPr>
              <a:t>Fig.6. 2025년 4개 분기의 선택 집합 거래 비중.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9536" y="8951976"/>
            <a:ext cx="1645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50" b="1" i="0" u="none">
                <a:solidFill>
                  <a:srgbClr val="FF6F40"/>
                </a:solidFill>
                <a:latin typeface="Noto Sans CJK KR"/>
                <a:ea typeface="Noto Sans CJK KR"/>
              </a:rPr>
              <a:t>거래 지표만 공통 18개 보고 업종으로 제한: A 62.28% / R 62.16% → A가 조금 높음.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520000">
            <a:off x="-1508760" y="-1463040"/>
            <a:ext cx="3749039" cy="306324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7099280" y="-96012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508760" y="946404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580000">
            <a:off x="16596359" y="9372600"/>
            <a:ext cx="2880360" cy="242316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5590520" y="530352"/>
            <a:ext cx="2029968" cy="0"/>
          </a:xfrm>
          <a:prstGeom prst="line">
            <a:avLst/>
          </a:prstGeom>
          <a:ln w="20320">
            <a:solidFill>
              <a:srgbClr val="404040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18031968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7999829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7922240" y="649224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H="1">
            <a:off x="17760595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H="1">
            <a:off x="17693640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H="1" flipV="1">
            <a:off x="17760595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7922240" y="310896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 flipV="1">
            <a:off x="17999829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384048" y="10040112"/>
            <a:ext cx="17492472" cy="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30352" y="100766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404040"/>
                </a:solidFill>
                <a:latin typeface="Noto Sans CJK KR"/>
                <a:ea typeface="Noto Sans CJK KR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0067544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TRANSIT OOH  ·  PUBLIC-DATA DECISION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1006754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13 /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74904"/>
            <a:ext cx="160020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GIS 대시보드의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1161288"/>
            <a:ext cx="16002000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FF6F40"/>
                </a:solidFill>
                <a:latin typeface="Noto Sans CJK KR"/>
                <a:ea typeface="Noto Sans CJK KR"/>
              </a:rPr>
              <a:t>구현 및 사용.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185416"/>
            <a:ext cx="1554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Interactive GIS Dashboard &amp; Decision Support.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0" y="2578608"/>
            <a:ext cx="6995160" cy="0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744200" y="941832"/>
            <a:ext cx="0" cy="347472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sp>
        <p:nvSpPr>
          <p:cNvPr id="24" name="Trapezoid 23"/>
          <p:cNvSpPr/>
          <p:nvPr/>
        </p:nvSpPr>
        <p:spPr>
          <a:xfrm>
            <a:off x="10607040" y="1271016"/>
            <a:ext cx="274320" cy="237744"/>
          </a:xfrm>
          <a:prstGeom prst="trapezoid">
            <a:avLst/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24160" y="1472184"/>
            <a:ext cx="640080" cy="640080"/>
          </a:xfrm>
          <a:prstGeom prst="ellipse">
            <a:avLst/>
          </a:prstGeom>
          <a:solidFill>
            <a:srgbClr val="FFDD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0680192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H="1">
            <a:off x="10808208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10689336" y="1874519"/>
            <a:ext cx="118872" cy="0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612648" y="2761488"/>
            <a:ext cx="168706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• 후보 수·가중치·정규화를 바꾸면 지도, 현재 점수, 순위, 강건 선택을 함께 확인한다.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9665208"/>
            <a:ext cx="1673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40" b="0" i="1" u="none">
                <a:solidFill>
                  <a:srgbClr val="63738B"/>
                </a:solidFill>
                <a:latin typeface="Noto Sans CJK KR"/>
                <a:ea typeface="Noto Sans CJK KR"/>
              </a:rPr>
              <a:t>화면: 현재 실제 집계자료를 읽은 Streamlit 앱. 동 좌표는 표시점이며 실제 배송 정차 지점이 아님.</a:t>
            </a:r>
          </a:p>
        </p:txBody>
      </p:sp>
      <p:pic>
        <p:nvPicPr>
          <p:cNvPr id="31" name="Picture 30" descr="dashboard_controls_map_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24" y="3273552"/>
            <a:ext cx="9936510" cy="587959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13232" y="9189720"/>
            <a:ext cx="11521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Fig.7. 실제 자료의 설정 조작·후보지역 지도.</a:t>
            </a:r>
          </a:p>
        </p:txBody>
      </p:sp>
      <p:sp>
        <p:nvSpPr>
          <p:cNvPr id="33" name="Oval 32"/>
          <p:cNvSpPr/>
          <p:nvPr/>
        </p:nvSpPr>
        <p:spPr>
          <a:xfrm>
            <a:off x="12893040" y="3456432"/>
            <a:ext cx="530352" cy="530352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93040" y="3520439"/>
            <a:ext cx="53035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651992" y="3456432"/>
            <a:ext cx="376732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입력 설정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29616" y="4160520"/>
            <a:ext cx="444398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70" b="0" i="0" u="none">
                <a:solidFill>
                  <a:srgbClr val="17253D"/>
                </a:solidFill>
                <a:latin typeface="Noto Sans CJK KR"/>
                <a:ea typeface="Noto Sans CJK KR"/>
              </a:rPr>
              <a:t>K=3·5·10 / 비중 0~100%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7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정규화 3종 / 고려할 비중 범위</a:t>
            </a:r>
          </a:p>
        </p:txBody>
      </p:sp>
      <p:sp>
        <p:nvSpPr>
          <p:cNvPr id="37" name="Oval 36"/>
          <p:cNvSpPr/>
          <p:nvPr/>
        </p:nvSpPr>
        <p:spPr>
          <a:xfrm>
            <a:off x="12893040" y="5230368"/>
            <a:ext cx="530352" cy="530352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93040" y="5294376"/>
            <a:ext cx="53035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651992" y="5230368"/>
            <a:ext cx="376732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근거 확인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29616" y="5934456"/>
            <a:ext cx="444398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70" b="0" i="0" u="none">
                <a:solidFill>
                  <a:srgbClr val="17253D"/>
                </a:solidFill>
                <a:latin typeface="Noto Sans CJK KR"/>
                <a:ea typeface="Noto Sans CJK KR"/>
              </a:rPr>
              <a:t>기본 순위와 강건 집합 비교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70" b="0" i="0" u="none">
                <a:solidFill>
                  <a:srgbClr val="17253D"/>
                </a:solidFill>
                <a:latin typeface="Noto Sans CJK KR"/>
                <a:ea typeface="Noto Sans CJK KR"/>
              </a:rPr>
              <a:t>공통 후보·동점·효용의 대가 확인</a:t>
            </a:r>
          </a:p>
        </p:txBody>
      </p:sp>
      <p:sp>
        <p:nvSpPr>
          <p:cNvPr id="41" name="Oval 40"/>
          <p:cNvSpPr/>
          <p:nvPr/>
        </p:nvSpPr>
        <p:spPr>
          <a:xfrm>
            <a:off x="12893040" y="7004304"/>
            <a:ext cx="530352" cy="530352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93040" y="7068312"/>
            <a:ext cx="53035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651992" y="7004304"/>
            <a:ext cx="376732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업무 전달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929616" y="7708392"/>
            <a:ext cx="444398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70" b="0" i="0" u="none">
                <a:solidFill>
                  <a:srgbClr val="17253D"/>
                </a:solidFill>
                <a:latin typeface="Noto Sans CJK KR"/>
                <a:ea typeface="Noto Sans CJK KR"/>
              </a:rPr>
              <a:t>현재 후보 점수·집합 비교 CSV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70" b="0" i="0" u="none">
                <a:solidFill>
                  <a:srgbClr val="17253D"/>
                </a:solidFill>
                <a:latin typeface="Noto Sans CJK KR"/>
                <a:ea typeface="Noto Sans CJK KR"/>
              </a:rPr>
              <a:t>고정 연구 결과표와 구분해 내려받기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520000">
            <a:off x="-1508760" y="-1463040"/>
            <a:ext cx="3749039" cy="306324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7099280" y="-96012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508760" y="946404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580000">
            <a:off x="16596359" y="9372600"/>
            <a:ext cx="2880360" cy="242316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5590520" y="530352"/>
            <a:ext cx="2029968" cy="0"/>
          </a:xfrm>
          <a:prstGeom prst="line">
            <a:avLst/>
          </a:prstGeom>
          <a:ln w="20320">
            <a:solidFill>
              <a:srgbClr val="404040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18031968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7999829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7922240" y="649224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H="1">
            <a:off x="17760595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H="1">
            <a:off x="17693640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H="1" flipV="1">
            <a:off x="17760595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7922240" y="310896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 flipV="1">
            <a:off x="17999829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384048" y="10040112"/>
            <a:ext cx="17492472" cy="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30352" y="100766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404040"/>
                </a:solidFill>
                <a:latin typeface="Noto Sans CJK KR"/>
                <a:ea typeface="Noto Sans CJK KR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0067544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TRANSIT OOH  ·  PUBLIC-DATA DECISION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1006754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14 /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74904"/>
            <a:ext cx="160020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실무 적용 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1161288"/>
            <a:ext cx="16002000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FF6F40"/>
                </a:solidFill>
                <a:latin typeface="Noto Sans CJK KR"/>
                <a:ea typeface="Noto Sans CJK KR"/>
              </a:rPr>
              <a:t>결론.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185416"/>
            <a:ext cx="1554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Practical Implications &amp; Conclusion.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0" y="2578608"/>
            <a:ext cx="6766560" cy="0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744200" y="941832"/>
            <a:ext cx="0" cy="347472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sp>
        <p:nvSpPr>
          <p:cNvPr id="24" name="Trapezoid 23"/>
          <p:cNvSpPr/>
          <p:nvPr/>
        </p:nvSpPr>
        <p:spPr>
          <a:xfrm>
            <a:off x="10607040" y="1271016"/>
            <a:ext cx="274320" cy="237744"/>
          </a:xfrm>
          <a:prstGeom prst="trapezoid">
            <a:avLst/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24160" y="1472184"/>
            <a:ext cx="640080" cy="640080"/>
          </a:xfrm>
          <a:prstGeom prst="ellipse">
            <a:avLst/>
          </a:prstGeom>
          <a:solidFill>
            <a:srgbClr val="FFDD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0680192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H="1">
            <a:off x="10808208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10689336" y="1874519"/>
            <a:ext cx="118872" cy="0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612648" y="2761488"/>
            <a:ext cx="168706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• 하나의 최적 가중치를 선언하기보다, 기준이 달라질 때 선택 근거가 어떻게 유지되는지 보여 준다.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520440"/>
            <a:ext cx="5230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업무 활용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22960" y="4233672"/>
            <a:ext cx="5148072" cy="0"/>
          </a:xfrm>
          <a:prstGeom prst="line">
            <a:avLst/>
          </a:prstGeom>
          <a:ln w="38100">
            <a:solidFill>
              <a:srgbClr val="0E9384"/>
            </a:solidFill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822960" y="4553712"/>
            <a:ext cx="5230368" cy="1938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검토할 후보지역 K개 선정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선호 변경에 따른 위험 확인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후속 배송·매체 검토에 전달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92824" y="3520440"/>
            <a:ext cx="5230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 i="0" u="none">
                <a:solidFill>
                  <a:srgbClr val="3A5BA0"/>
                </a:solidFill>
                <a:latin typeface="Noto Sans CJK KR"/>
                <a:ea typeface="Noto Sans CJK KR"/>
              </a:rPr>
              <a:t>융합 기여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92824" y="4233672"/>
            <a:ext cx="5148072" cy="0"/>
          </a:xfrm>
          <a:prstGeom prst="line">
            <a:avLst/>
          </a:prstGeom>
          <a:ln w="38100">
            <a:solidFill>
              <a:srgbClr val="3A5BA0"/>
            </a:solidFill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6592824" y="4553712"/>
            <a:ext cx="5230368" cy="1938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공개자료의 공간·연도 검증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산업공학의 집합 선택 적용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GIS·CSV로 검토 과정 구현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62688" y="3520440"/>
            <a:ext cx="5230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 i="0" u="none">
                <a:solidFill>
                  <a:srgbClr val="FF6F40"/>
                </a:solidFill>
                <a:latin typeface="Noto Sans CJK KR"/>
                <a:ea typeface="Noto Sans CJK KR"/>
              </a:rPr>
              <a:t>확장 방향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2362688" y="4233672"/>
            <a:ext cx="5148072" cy="0"/>
          </a:xfrm>
          <a:prstGeom prst="line">
            <a:avLst/>
          </a:prstGeom>
          <a:ln w="38100">
            <a:solidFill>
              <a:srgbClr val="FF6F40"/>
            </a:solidFill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12362688" y="4553712"/>
            <a:ext cx="5230368" cy="1938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다른 자치구·후보 단위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물류거점·매체의 사전 선별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운영 제약을 더한 후속 연구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32104" y="7013448"/>
            <a:ext cx="16568928" cy="0"/>
          </a:xfrm>
          <a:prstGeom prst="line">
            <a:avLst/>
          </a:prstGeom>
          <a:ln w="15240">
            <a:solidFill>
              <a:srgbClr val="CDD4DF"/>
            </a:solidFill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859536" y="7351775"/>
            <a:ext cx="2825496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검증한 범위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76472" y="7406640"/>
            <a:ext cx="1346911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실제 15개 후보 · 전 조합 3,003개 · 독립 수치 재계산 · 자동검사 205개 통과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8302752"/>
            <a:ext cx="2825496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 u="none">
                <a:solidFill>
                  <a:srgbClr val="FF6F40"/>
                </a:solidFill>
                <a:latin typeface="Noto Sans CJK KR"/>
                <a:ea typeface="Noto Sans CJK KR"/>
              </a:rPr>
              <a:t>해석의 경계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76472" y="8357616"/>
            <a:ext cx="1346911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행정동 사전 선별 사례다. 실제 광고효과·운행 가능 경로·수익을 확정하지 않는다.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520000">
            <a:off x="-1508760" y="-1463040"/>
            <a:ext cx="3749039" cy="306324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7099280" y="-96012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508760" y="9464040"/>
            <a:ext cx="2468880" cy="2468880"/>
          </a:xfrm>
          <a:prstGeom prst="ellipse">
            <a:avLst/>
          </a:prstGeom>
          <a:solidFill>
            <a:srgbClr val="FE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580000">
            <a:off x="16596359" y="9372600"/>
            <a:ext cx="2880360" cy="2423160"/>
          </a:xfrm>
          <a:prstGeom prst="roundRect">
            <a:avLst>
              <a:gd name="adj" fmla="val 10000"/>
            </a:avLst>
          </a:prstGeom>
          <a:solidFill>
            <a:srgbClr val="C6E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5590520" y="530352"/>
            <a:ext cx="2029968" cy="0"/>
          </a:xfrm>
          <a:prstGeom prst="line">
            <a:avLst/>
          </a:prstGeom>
          <a:ln w="20320">
            <a:solidFill>
              <a:srgbClr val="404040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18031968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7999829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7922240" y="649224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H="1">
            <a:off x="17760595" y="617085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H="1">
            <a:off x="17693640" y="539496"/>
            <a:ext cx="118872" cy="0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H="1" flipV="1">
            <a:off x="17760595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7922240" y="310896"/>
            <a:ext cx="0" cy="118872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 flipV="1">
            <a:off x="17999829" y="377851"/>
            <a:ext cx="84055" cy="84055"/>
          </a:xfrm>
          <a:prstGeom prst="line">
            <a:avLst/>
          </a:prstGeom>
          <a:ln w="63500">
            <a:solidFill>
              <a:srgbClr val="FF6F4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384048" y="10040112"/>
            <a:ext cx="17492472" cy="0"/>
          </a:xfrm>
          <a:prstGeom prst="line">
            <a:avLst/>
          </a:prstGeom>
          <a:ln w="12700">
            <a:solidFill>
              <a:srgbClr val="404040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30352" y="100766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404040"/>
                </a:solidFill>
                <a:latin typeface="Noto Sans CJK KR"/>
                <a:ea typeface="Noto Sans CJK KR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0067544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TRANSIT OOH  ·  PUBLIC-DATA DECISION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1006754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 u="none">
                <a:solidFill>
                  <a:srgbClr val="17253D"/>
                </a:solidFill>
                <a:latin typeface="Noto Sans CJK KR"/>
                <a:ea typeface="Noto Sans CJK KR"/>
              </a:rPr>
              <a:t>15 /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74904"/>
            <a:ext cx="160020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참고문헌 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1161288"/>
            <a:ext cx="16002000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5400" b="1" i="0" u="none">
                <a:solidFill>
                  <a:srgbClr val="FF6F40"/>
                </a:solidFill>
                <a:latin typeface="Noto Sans CJK KR"/>
                <a:ea typeface="Noto Sans CJK KR"/>
              </a:rPr>
              <a:t>데이터 출처.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185416"/>
            <a:ext cx="1554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404040"/>
                </a:solidFill>
                <a:latin typeface="Noto Sans CJK KR"/>
                <a:ea typeface="Noto Sans CJK KR"/>
              </a:rPr>
              <a:t>References &amp; Data Sources.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0" y="2578608"/>
            <a:ext cx="6766560" cy="0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744200" y="941832"/>
            <a:ext cx="0" cy="347472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</p:cxnSp>
      <p:sp>
        <p:nvSpPr>
          <p:cNvPr id="24" name="Trapezoid 23"/>
          <p:cNvSpPr/>
          <p:nvPr/>
        </p:nvSpPr>
        <p:spPr>
          <a:xfrm>
            <a:off x="10607040" y="1271016"/>
            <a:ext cx="274320" cy="237744"/>
          </a:xfrm>
          <a:prstGeom prst="trapezoid">
            <a:avLst/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24160" y="1472184"/>
            <a:ext cx="640080" cy="640080"/>
          </a:xfrm>
          <a:prstGeom prst="ellipse">
            <a:avLst/>
          </a:prstGeom>
          <a:solidFill>
            <a:srgbClr val="FFDD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0680192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H="1">
            <a:off x="10808208" y="1581912"/>
            <a:ext cx="9144" cy="292607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10689336" y="1874519"/>
            <a:ext cx="118872" cy="0"/>
          </a:xfrm>
          <a:prstGeom prst="line">
            <a:avLst/>
          </a:prstGeom>
          <a:ln w="17780">
            <a:solidFill>
              <a:srgbClr val="404040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612648" y="2761488"/>
            <a:ext cx="168706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• 공식 출처와 재현 가능한 계산 근거를 공개하고, 자료가 측정하지 않은 효과는 주장하지 않는다.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3447288"/>
            <a:ext cx="7946136" cy="502920"/>
          </a:xfrm>
          <a:prstGeom prst="roundRect">
            <a:avLst>
              <a:gd name="adj" fmla="val 10000"/>
            </a:avLst>
          </a:prstGeom>
          <a:solidFill>
            <a:srgbClr val="FF6F40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557016"/>
            <a:ext cx="7763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Data &amp; Sources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4224528"/>
            <a:ext cx="78181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20" b="1" i="0" u="none">
                <a:solidFill>
                  <a:srgbClr val="17253D"/>
                </a:solidFill>
                <a:latin typeface="Noto Sans CJK KR"/>
                <a:ea typeface="Noto Sans CJK KR"/>
              </a:rPr>
              <a:t>[D1] 서울특별시 · 상권분석서비스(점포–행정동)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4837176"/>
            <a:ext cx="779068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0" i="0" u="none">
                <a:solidFill>
                  <a:srgbClr val="63738B"/>
                </a:solidFill>
                <a:latin typeface="Noto Sans CJK KR"/>
                <a:ea typeface="Noto Sans CJK KR"/>
              </a:rPr>
              <a:t>2024년 4개 분기 · 공공누리 1유형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0" i="0" u="none">
                <a:solidFill>
                  <a:srgbClr val="63738B"/>
                </a:solidFill>
                <a:latin typeface="Noto Sans CJK KR"/>
                <a:ea typeface="Noto Sans CJK KR"/>
              </a:rPr>
              <a:t>data.seoul.go.kr/dataList/OA-22172/S/1/datasetView.do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5779008"/>
            <a:ext cx="78181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20" b="1" i="0" u="none">
                <a:solidFill>
                  <a:srgbClr val="17253D"/>
                </a:solidFill>
                <a:latin typeface="Noto Sans CJK KR"/>
                <a:ea typeface="Noto Sans CJK KR"/>
              </a:rPr>
              <a:t>[D2] 서울특별시 · 상권분석서비스(추정매출–행정동)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" y="6391656"/>
            <a:ext cx="779068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0" i="0" u="none">
                <a:solidFill>
                  <a:srgbClr val="63738B"/>
                </a:solidFill>
                <a:latin typeface="Noto Sans CJK KR"/>
                <a:ea typeface="Noto Sans CJK KR"/>
              </a:rPr>
              <a:t>2025년 4개 분기 · 공공누리 1유형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0" i="0" u="none">
                <a:solidFill>
                  <a:srgbClr val="63738B"/>
                </a:solidFill>
                <a:latin typeface="Noto Sans CJK KR"/>
                <a:ea typeface="Noto Sans CJK KR"/>
              </a:rPr>
              <a:t>data.seoul.go.kr/dataList/OA-22175/S/1/datasetView.do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7333488"/>
            <a:ext cx="78181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120" b="1" i="0" u="none">
                <a:solidFill>
                  <a:srgbClr val="17253D"/>
                </a:solidFill>
                <a:latin typeface="Noto Sans CJK KR"/>
                <a:ea typeface="Noto Sans CJK KR"/>
              </a:rPr>
              <a:t>[D3] 한국교통연구원 · KTDB View-T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" y="7946136"/>
            <a:ext cx="779068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0" i="0" u="none">
                <a:solidFill>
                  <a:srgbClr val="63738B"/>
                </a:solidFill>
                <a:latin typeface="Noto Sans CJK KR"/>
                <a:ea typeface="Noto Sans CJK KR"/>
              </a:rPr>
              <a:t>2024년 도로망·추정교통량·평균속도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0" i="0" u="none">
                <a:solidFill>
                  <a:srgbClr val="63738B"/>
                </a:solidFill>
                <a:latin typeface="Noto Sans CJK KR"/>
                <a:ea typeface="Noto Sans CJK KR"/>
              </a:rPr>
              <a:t>viewt.ktdb.go.kr/cong/map/page.do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0" i="0" u="none">
                <a:solidFill>
                  <a:srgbClr val="63738B"/>
                </a:solidFill>
                <a:latin typeface="Noto Sans CJK KR"/>
                <a:ea typeface="Noto Sans CJK KR"/>
              </a:rPr>
              <a:t>viewt.ktdb.go.kr/cong/pdf/Trafficestimate.pdf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73184" y="3447288"/>
            <a:ext cx="7936992" cy="502920"/>
          </a:xfrm>
          <a:prstGeom prst="roundRect">
            <a:avLst>
              <a:gd name="adj" fmla="val 10000"/>
            </a:avLst>
          </a:prstGeom>
          <a:solidFill>
            <a:srgbClr val="FF6F40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64624" y="3557016"/>
            <a:ext cx="775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 u="none">
                <a:solidFill>
                  <a:srgbClr val="FFFFFF"/>
                </a:solidFill>
                <a:latin typeface="Noto Sans CJK KR"/>
                <a:ea typeface="Noto Sans CJK KR"/>
              </a:rPr>
              <a:t>Research Methods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18904" y="4224528"/>
            <a:ext cx="77906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[R1] Bertsimas, Brown &amp; Caramanis (2010)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46336" y="4837176"/>
            <a:ext cx="7763256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63738B"/>
                </a:solidFill>
                <a:latin typeface="Noto Sans CJK KR"/>
                <a:ea typeface="Noto Sans CJK KR"/>
              </a:rPr>
              <a:t>Theory and Applications of Robust Optimization.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63738B"/>
                </a:solidFill>
                <a:latin typeface="Noto Sans CJK KR"/>
                <a:ea typeface="Noto Sans CJK KR"/>
              </a:rPr>
              <a:t>https://arxiv.org/abs/1010.5445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18904" y="5961888"/>
            <a:ext cx="77906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 u="none">
                <a:solidFill>
                  <a:srgbClr val="17253D"/>
                </a:solidFill>
                <a:latin typeface="Noto Sans CJK KR"/>
                <a:ea typeface="Noto Sans CJK KR"/>
              </a:rPr>
              <a:t>[R2] Mastin, Jaillet &amp; Chin (2014)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46336" y="6574536"/>
            <a:ext cx="7763256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63738B"/>
                </a:solidFill>
                <a:latin typeface="Noto Sans CJK KR"/>
                <a:ea typeface="Noto Sans CJK KR"/>
              </a:rPr>
              <a:t>Randomized Minmax Regret for Combinatorial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63738B"/>
                </a:solidFill>
                <a:latin typeface="Noto Sans CJK KR"/>
                <a:ea typeface="Noto Sans CJK KR"/>
              </a:rPr>
              <a:t>Optimization Under Uncertainty.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63738B"/>
                </a:solidFill>
                <a:latin typeface="Noto Sans CJK KR"/>
                <a:ea typeface="Noto Sans CJK KR"/>
              </a:rPr>
              <a:t>https://arxiv.org/abs/1401.7043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37192" y="8083296"/>
            <a:ext cx="7726679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 u="none">
                <a:solidFill>
                  <a:srgbClr val="0E9384"/>
                </a:solidFill>
                <a:latin typeface="Noto Sans CJK KR"/>
                <a:ea typeface="Noto Sans CJK KR"/>
              </a:rPr>
              <a:t>재현 근거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37192" y="8668512"/>
            <a:ext cx="77541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원본 해시 · 후보 대응표 · 전 조합 결과 · PNG/SVG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17253D"/>
                </a:solidFill>
                <a:latin typeface="Noto Sans CJK KR"/>
                <a:ea typeface="Noto Sans CJK KR"/>
              </a:rPr>
              <a:t>고정 의존성 · 검사 기록 · 별도 수치 검수 도구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 OOH · 공개자료 기반 강건한 후보지역 선정</dc:title>
  <dc:subject>공개 교통·상권자료 기반 의사결정 연구</dc:subject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